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6" r:id="rId1"/>
    <p:sldMasterId id="2147483657" r:id="rId2"/>
  </p:sldMasterIdLst>
  <p:notesMasterIdLst>
    <p:notesMasterId r:id="rId18"/>
  </p:notesMasterIdLst>
  <p:sldIdLst>
    <p:sldId id="256" r:id="rId3"/>
    <p:sldId id="258" r:id="rId4"/>
    <p:sldId id="259" r:id="rId5"/>
    <p:sldId id="260" r:id="rId6"/>
    <p:sldId id="288" r:id="rId7"/>
    <p:sldId id="278" r:id="rId8"/>
    <p:sldId id="263" r:id="rId9"/>
    <p:sldId id="279" r:id="rId10"/>
    <p:sldId id="280" r:id="rId11"/>
    <p:sldId id="281" r:id="rId12"/>
    <p:sldId id="282" r:id="rId13"/>
    <p:sldId id="284" r:id="rId14"/>
    <p:sldId id="283" r:id="rId15"/>
    <p:sldId id="285" r:id="rId16"/>
    <p:sldId id="286" r:id="rId17"/>
  </p:sldIdLst>
  <p:sldSz cx="18288000" cy="10287000"/>
  <p:notesSz cx="6858000" cy="9144000"/>
  <p:embeddedFontLst>
    <p:embeddedFont>
      <p:font typeface="Archivo Black" panose="020B0604020202020204" charset="0"/>
      <p:regular r:id="rId19"/>
    </p:embeddedFont>
    <p:embeddedFont>
      <p:font typeface="Cambria" panose="02040503050406030204" pitchFamily="18" charset="0"/>
      <p:regular r:id="rId20"/>
      <p:bold r:id="rId21"/>
      <p:italic r:id="rId22"/>
      <p:boldItalic r:id="rId23"/>
    </p:embeddedFont>
    <p:embeddedFont>
      <p:font typeface="Noto Sans" panose="020B0502040504020204" pitchFamily="34" charset="0"/>
      <p:regular r:id="rId24"/>
      <p:bold r:id="rId25"/>
      <p:italic r:id="rId26"/>
      <p:boldItalic r:id="rId2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FB22262-EE91-4951-AA39-8F43F4CDB637}">
  <a:tblStyle styleId="{0FB22262-EE91-4951-AA39-8F43F4CDB63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28" d="100"/>
          <a:sy n="28" d="100"/>
        </p:scale>
        <p:origin x="1492" y="41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notesMaster" Target="notesMasters/notesMaster1.xml"/><Relationship Id="rId26" Type="http://schemas.openxmlformats.org/officeDocument/2006/relationships/font" Target="fonts/font8.fntdata"/><Relationship Id="rId3" Type="http://schemas.openxmlformats.org/officeDocument/2006/relationships/slide" Target="slides/slide1.xml"/><Relationship Id="rId21" Type="http://schemas.openxmlformats.org/officeDocument/2006/relationships/font" Target="fonts/font3.fntdata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font" Target="fonts/font7.fntdata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font" Target="fonts/font2.fntdata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font" Target="fonts/font6.fntdata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font" Target="fonts/font5.fntdata"/><Relationship Id="rId28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font" Target="fonts/font1.fntdata"/><Relationship Id="rId31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font" Target="fonts/font4.fntdata"/><Relationship Id="rId27" Type="http://schemas.openxmlformats.org/officeDocument/2006/relationships/font" Target="fonts/font9.fnt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" name="Google Shape;40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" name="Google Shape;7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>
          <a:extLst>
            <a:ext uri="{FF2B5EF4-FFF2-40B4-BE49-F238E27FC236}">
              <a16:creationId xmlns:a16="http://schemas.microsoft.com/office/drawing/2014/main" id="{61EEE76F-1F20-3203-161D-E2F445CBE8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7:notes">
            <a:extLst>
              <a:ext uri="{FF2B5EF4-FFF2-40B4-BE49-F238E27FC236}">
                <a16:creationId xmlns:a16="http://schemas.microsoft.com/office/drawing/2014/main" id="{38C72B77-444D-CCC4-8092-96B7A367209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37" name="Google Shape;137;p7:notes">
            <a:extLst>
              <a:ext uri="{FF2B5EF4-FFF2-40B4-BE49-F238E27FC236}">
                <a16:creationId xmlns:a16="http://schemas.microsoft.com/office/drawing/2014/main" id="{7AC3C5A2-0A05-1C06-1D58-5DAD908F687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7002802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7" name="Google Shape;157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2604593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>
          <a:extLst>
            <a:ext uri="{FF2B5EF4-FFF2-40B4-BE49-F238E27FC236}">
              <a16:creationId xmlns:a16="http://schemas.microsoft.com/office/drawing/2014/main" id="{4C9F2B9E-E2E6-176A-1BE1-CC73EAE28C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8:notes">
            <a:extLst>
              <a:ext uri="{FF2B5EF4-FFF2-40B4-BE49-F238E27FC236}">
                <a16:creationId xmlns:a16="http://schemas.microsoft.com/office/drawing/2014/main" id="{03A4E5B1-E185-5B0A-1C39-3463BA2F960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7" name="Google Shape;157;p8:notes">
            <a:extLst>
              <a:ext uri="{FF2B5EF4-FFF2-40B4-BE49-F238E27FC236}">
                <a16:creationId xmlns:a16="http://schemas.microsoft.com/office/drawing/2014/main" id="{8C6B94C2-49F8-AE70-C4F3-14B50735229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0477160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4000646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454383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"/>
          <p:cNvSpPr txBox="1">
            <a:spLocks noGrp="1"/>
          </p:cNvSpPr>
          <p:nvPr>
            <p:ph type="subTitle" idx="1"/>
          </p:nvPr>
        </p:nvSpPr>
        <p:spPr>
          <a:xfrm>
            <a:off x="5590675" y="2724175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SzPts val="3200"/>
              <a:buNone/>
              <a:defRPr/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1" name="Google Shape;11;p3"/>
          <p:cNvSpPr txBox="1">
            <a:spLocks noGrp="1"/>
          </p:cNvSpPr>
          <p:nvPr>
            <p:ph type="ctrTitle"/>
          </p:nvPr>
        </p:nvSpPr>
        <p:spPr>
          <a:xfrm>
            <a:off x="2990050" y="1254175"/>
            <a:ext cx="11998500" cy="14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4"/>
          <p:cNvSpPr txBox="1">
            <a:spLocks noGrp="1"/>
          </p:cNvSpPr>
          <p:nvPr>
            <p:ph type="body" idx="1"/>
          </p:nvPr>
        </p:nvSpPr>
        <p:spPr>
          <a:xfrm>
            <a:off x="3329400" y="3336525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" name="Google Shape;14;p4"/>
          <p:cNvSpPr txBox="1">
            <a:spLocks noGrp="1"/>
          </p:cNvSpPr>
          <p:nvPr>
            <p:ph type="ctrTitle"/>
          </p:nvPr>
        </p:nvSpPr>
        <p:spPr>
          <a:xfrm>
            <a:off x="2973825" y="1254175"/>
            <a:ext cx="11998500" cy="14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"/>
          <p:cNvSpPr txBox="1">
            <a:spLocks noGrp="1"/>
          </p:cNvSpPr>
          <p:nvPr>
            <p:ph type="body" idx="1"/>
          </p:nvPr>
        </p:nvSpPr>
        <p:spPr>
          <a:xfrm>
            <a:off x="3188813" y="5908713"/>
            <a:ext cx="77724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SzPts val="2800"/>
              <a:buNone/>
              <a:defRPr sz="2800"/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SzPts val="2800"/>
              <a:buNone/>
              <a:defRPr/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SzPts val="2800"/>
              <a:buNone/>
              <a:defRPr sz="2800"/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SzPts val="2800"/>
              <a:buNone/>
              <a:defRPr sz="2800"/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SzPts val="2800"/>
              <a:buNone/>
              <a:defRPr sz="2800"/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SzPts val="2800"/>
              <a:buNone/>
              <a:defRPr sz="2800"/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SzPts val="2800"/>
              <a:buNone/>
              <a:defRPr sz="2800"/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SzPts val="2800"/>
              <a:buNone/>
              <a:defRPr sz="2800"/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7" name="Google Shape;17;p5"/>
          <p:cNvSpPr txBox="1">
            <a:spLocks noGrp="1"/>
          </p:cNvSpPr>
          <p:nvPr>
            <p:ph type="ctrTitle"/>
          </p:nvPr>
        </p:nvSpPr>
        <p:spPr>
          <a:xfrm>
            <a:off x="2973825" y="1254175"/>
            <a:ext cx="11998500" cy="14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"/>
          <p:cNvSpPr txBox="1">
            <a:spLocks noGrp="1"/>
          </p:cNvSpPr>
          <p:nvPr>
            <p:ph type="ctrTitle"/>
          </p:nvPr>
        </p:nvSpPr>
        <p:spPr>
          <a:xfrm>
            <a:off x="2973825" y="1254175"/>
            <a:ext cx="11998500" cy="14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Google Shape;26;p8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27" name="Google Shape;27;p8"/>
            <p:cNvSpPr/>
            <p:nvPr/>
          </p:nvSpPr>
          <p:spPr>
            <a:xfrm rot="5400000">
              <a:off x="8503696" y="-8503696"/>
              <a:ext cx="7376608" cy="24384000"/>
            </a:xfrm>
            <a:custGeom>
              <a:avLst/>
              <a:gdLst/>
              <a:ahLst/>
              <a:cxnLst/>
              <a:rect l="l" t="t" r="r" b="b"/>
              <a:pathLst>
                <a:path w="7376608" h="24384000" extrusionOk="0">
                  <a:moveTo>
                    <a:pt x="0" y="0"/>
                  </a:moveTo>
                  <a:lnTo>
                    <a:pt x="7376608" y="0"/>
                  </a:lnTo>
                  <a:lnTo>
                    <a:pt x="7376608" y="24384000"/>
                  </a:lnTo>
                  <a:lnTo>
                    <a:pt x="0" y="2438400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2">
                <a:alphaModFix/>
              </a:blip>
              <a:stretch>
                <a:fillRect l="-25547" r="-204997"/>
              </a:stretch>
            </a:blipFill>
            <a:ln>
              <a:noFill/>
            </a:ln>
          </p:spPr>
        </p:sp>
        <p:sp>
          <p:nvSpPr>
            <p:cNvPr id="28" name="Google Shape;28;p8"/>
            <p:cNvSpPr/>
            <p:nvPr/>
          </p:nvSpPr>
          <p:spPr>
            <a:xfrm rot="5400000" flipH="1">
              <a:off x="9022304" y="-1645696"/>
              <a:ext cx="6339392" cy="24384000"/>
            </a:xfrm>
            <a:custGeom>
              <a:avLst/>
              <a:gdLst/>
              <a:ahLst/>
              <a:cxnLst/>
              <a:rect l="l" t="t" r="r" b="b"/>
              <a:pathLst>
                <a:path w="6339392" h="24384000" extrusionOk="0">
                  <a:moveTo>
                    <a:pt x="0" y="24384000"/>
                  </a:moveTo>
                  <a:lnTo>
                    <a:pt x="6339392" y="24384000"/>
                  </a:lnTo>
                  <a:lnTo>
                    <a:pt x="6339392" y="0"/>
                  </a:lnTo>
                  <a:lnTo>
                    <a:pt x="0" y="0"/>
                  </a:lnTo>
                  <a:lnTo>
                    <a:pt x="0" y="24384000"/>
                  </a:lnTo>
                  <a:close/>
                </a:path>
              </a:pathLst>
            </a:custGeom>
            <a:blipFill rotWithShape="1">
              <a:blip r:embed="rId2">
                <a:alphaModFix/>
              </a:blip>
              <a:stretch>
                <a:fillRect l="-29726" r="-254888"/>
              </a:stretch>
            </a:blipFill>
            <a:ln>
              <a:noFill/>
            </a:ln>
          </p:spPr>
        </p:sp>
      </p:grpSp>
      <p:sp>
        <p:nvSpPr>
          <p:cNvPr id="29" name="Google Shape;29;p8"/>
          <p:cNvSpPr/>
          <p:nvPr/>
        </p:nvSpPr>
        <p:spPr>
          <a:xfrm>
            <a:off x="770278" y="978858"/>
            <a:ext cx="16771192" cy="8593239"/>
          </a:xfrm>
          <a:custGeom>
            <a:avLst/>
            <a:gdLst/>
            <a:ahLst/>
            <a:cxnLst/>
            <a:rect l="l" t="t" r="r" b="b"/>
            <a:pathLst>
              <a:path w="4417075" h="2263225" extrusionOk="0">
                <a:moveTo>
                  <a:pt x="0" y="0"/>
                </a:moveTo>
                <a:lnTo>
                  <a:pt x="4417075" y="0"/>
                </a:lnTo>
                <a:lnTo>
                  <a:pt x="4417075" y="2263225"/>
                </a:lnTo>
                <a:lnTo>
                  <a:pt x="0" y="2263225"/>
                </a:lnTo>
                <a:close/>
              </a:path>
            </a:pathLst>
          </a:custGeom>
          <a:solidFill>
            <a:srgbClr val="0F1A38"/>
          </a:solidFill>
          <a:ln>
            <a:noFill/>
          </a:ln>
        </p:spPr>
      </p:sp>
      <p:sp>
        <p:nvSpPr>
          <p:cNvPr id="30" name="Google Shape;30;p8"/>
          <p:cNvSpPr/>
          <p:nvPr/>
        </p:nvSpPr>
        <p:spPr>
          <a:xfrm>
            <a:off x="1293927" y="1470225"/>
            <a:ext cx="15657436" cy="7608616"/>
          </a:xfrm>
          <a:custGeom>
            <a:avLst/>
            <a:gdLst/>
            <a:ahLst/>
            <a:cxnLst/>
            <a:rect l="l" t="t" r="r" b="b"/>
            <a:pathLst>
              <a:path w="4123742" h="2003902" extrusionOk="0">
                <a:moveTo>
                  <a:pt x="0" y="0"/>
                </a:moveTo>
                <a:lnTo>
                  <a:pt x="4123742" y="0"/>
                </a:lnTo>
                <a:lnTo>
                  <a:pt x="4123742" y="2003902"/>
                </a:lnTo>
                <a:lnTo>
                  <a:pt x="0" y="2003902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38100" cap="sq" cmpd="sng">
            <a:solidFill>
              <a:srgbClr val="71CBEF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31" name="Google Shape;31;p8"/>
          <p:cNvSpPr txBox="1">
            <a:spLocks noGrp="1"/>
          </p:cNvSpPr>
          <p:nvPr>
            <p:ph type="body" idx="1"/>
          </p:nvPr>
        </p:nvSpPr>
        <p:spPr>
          <a:xfrm>
            <a:off x="4013175" y="3719100"/>
            <a:ext cx="5111700" cy="58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32" name="Google Shape;32;p8"/>
          <p:cNvSpPr txBox="1">
            <a:spLocks noGrp="1"/>
          </p:cNvSpPr>
          <p:nvPr>
            <p:ph type="body" idx="2"/>
          </p:nvPr>
        </p:nvSpPr>
        <p:spPr>
          <a:xfrm>
            <a:off x="9384350" y="3719100"/>
            <a:ext cx="5111700" cy="58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33" name="Google Shape;33;p8"/>
          <p:cNvSpPr txBox="1">
            <a:spLocks noGrp="1"/>
          </p:cNvSpPr>
          <p:nvPr>
            <p:ph type="ctrTitle"/>
          </p:nvPr>
        </p:nvSpPr>
        <p:spPr>
          <a:xfrm>
            <a:off x="2876450" y="1778550"/>
            <a:ext cx="11998500" cy="14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9"/>
          <p:cNvSpPr txBox="1">
            <a:spLocks noGrp="1"/>
          </p:cNvSpPr>
          <p:nvPr>
            <p:ph type="title"/>
          </p:nvPr>
        </p:nvSpPr>
        <p:spPr>
          <a:xfrm>
            <a:off x="1467738" y="2707275"/>
            <a:ext cx="5486400" cy="5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9"/>
          <p:cNvSpPr>
            <a:spLocks noGrp="1"/>
          </p:cNvSpPr>
          <p:nvPr>
            <p:ph type="pic" idx="2"/>
          </p:nvPr>
        </p:nvSpPr>
        <p:spPr>
          <a:xfrm>
            <a:off x="10976863" y="23490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37" name="Google Shape;37;p9"/>
          <p:cNvSpPr txBox="1">
            <a:spLocks noGrp="1"/>
          </p:cNvSpPr>
          <p:nvPr>
            <p:ph type="body" idx="1"/>
          </p:nvPr>
        </p:nvSpPr>
        <p:spPr>
          <a:xfrm>
            <a:off x="1662463" y="4004013"/>
            <a:ext cx="5486400" cy="8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88050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069750" y="1313200"/>
            <a:ext cx="115617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chivo Black"/>
              <a:buNone/>
              <a:defRPr sz="4400" i="0" u="none" strike="noStrike" cap="none">
                <a:solidFill>
                  <a:schemeClr val="lt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329400" y="3336525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Noto Sans"/>
              <a:buChar char="•"/>
              <a:defRPr sz="3200" i="0" u="none" strike="noStrike" cap="none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oto Sans"/>
              <a:buChar char="–"/>
              <a:defRPr sz="2800" i="0" u="none" strike="noStrike" cap="none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oto Sans"/>
              <a:buChar char="•"/>
              <a:defRPr sz="2400" i="0" u="none" strike="noStrike" cap="none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oto Sans"/>
              <a:buChar char="–"/>
              <a:defRPr sz="2000" i="0" u="none" strike="noStrike" cap="none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oto Sans"/>
              <a:buChar char="»"/>
              <a:defRPr sz="2000" i="0" u="none" strike="noStrike" cap="none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oto Sans"/>
              <a:buChar char="•"/>
              <a:defRPr sz="2000" i="0" u="none" strike="noStrike" cap="none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oto Sans"/>
              <a:buChar char="•"/>
              <a:defRPr sz="2000" i="0" u="none" strike="noStrike" cap="none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oto Sans"/>
              <a:buChar char="•"/>
              <a:defRPr sz="2000" i="0" u="none" strike="noStrike" cap="none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oto Sans"/>
              <a:buChar char="•"/>
              <a:defRPr sz="2000" i="0" u="none" strike="noStrike" cap="none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3" r:id="rId5"/>
    <p:sldLayoutId id="2147483654" r:id="rId6"/>
    <p:sldLayoutId id="2147483655" r:id="rId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114714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</p:sldLayoutIdLst>
  <p:hf sldNum="0" hdr="0" ftr="0" dt="0"/>
  <p:txStyles>
    <p:titleStyle>
      <a:lvl1pPr algn="ctr" defTabSz="1371600" rtl="0" eaLnBrk="1" latinLnBrk="0" hangingPunct="1">
        <a:spcBef>
          <a:spcPct val="0"/>
        </a:spcBef>
        <a:buNone/>
        <a:defRPr sz="6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514350" indent="-514350" algn="l" defTabSz="1371600" rtl="0" eaLnBrk="1" latinLnBrk="0" hangingPunct="1">
        <a:spcBef>
          <a:spcPct val="20000"/>
        </a:spcBef>
        <a:buFont typeface="Arial" pitchFamily="34" charset="0"/>
        <a:buChar char="•"/>
        <a:defRPr sz="4800" kern="1200">
          <a:solidFill>
            <a:schemeClr val="tx1"/>
          </a:solidFill>
          <a:latin typeface="+mn-lt"/>
          <a:ea typeface="+mn-ea"/>
          <a:cs typeface="+mn-cs"/>
        </a:defRPr>
      </a:lvl1pPr>
      <a:lvl2pPr marL="1114425" indent="-428625" algn="l" defTabSz="1371600" rtl="0" eaLnBrk="1" latinLnBrk="0" hangingPunct="1">
        <a:spcBef>
          <a:spcPct val="20000"/>
        </a:spcBef>
        <a:buFont typeface="Arial" pitchFamily="34" charset="0"/>
        <a:buChar char="–"/>
        <a:defRPr sz="4200" kern="1200">
          <a:solidFill>
            <a:schemeClr val="tx1"/>
          </a:solidFill>
          <a:latin typeface="+mn-lt"/>
          <a:ea typeface="+mn-ea"/>
          <a:cs typeface="+mn-cs"/>
        </a:defRPr>
      </a:lvl2pPr>
      <a:lvl3pPr marL="1714500" indent="-342900" algn="l" defTabSz="1371600" rtl="0" eaLnBrk="1" latinLnBrk="0" hangingPunct="1">
        <a:spcBef>
          <a:spcPct val="20000"/>
        </a:spcBef>
        <a:buFont typeface="Arial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400300" indent="-342900" algn="l" defTabSz="1371600" rtl="0" eaLnBrk="1" latinLnBrk="0" hangingPunct="1">
        <a:spcBef>
          <a:spcPct val="20000"/>
        </a:spcBef>
        <a:buFont typeface="Arial" pitchFamily="34" charset="0"/>
        <a:buChar char="–"/>
        <a:defRPr sz="3000" kern="1200">
          <a:solidFill>
            <a:schemeClr val="tx1"/>
          </a:solidFill>
          <a:latin typeface="+mn-lt"/>
          <a:ea typeface="+mn-ea"/>
          <a:cs typeface="+mn-cs"/>
        </a:defRPr>
      </a:lvl4pPr>
      <a:lvl5pPr marL="3086100" indent="-342900" algn="l" defTabSz="1371600" rtl="0" eaLnBrk="1" latinLnBrk="0" hangingPunct="1">
        <a:spcBef>
          <a:spcPct val="20000"/>
        </a:spcBef>
        <a:buFont typeface="Arial" pitchFamily="34" charset="0"/>
        <a:buChar char="»"/>
        <a:defRPr sz="3000" kern="1200">
          <a:solidFill>
            <a:schemeClr val="tx1"/>
          </a:solidFill>
          <a:latin typeface="+mn-lt"/>
          <a:ea typeface="+mn-ea"/>
          <a:cs typeface="+mn-cs"/>
        </a:defRPr>
      </a:lvl5pPr>
      <a:lvl6pPr marL="3771900" indent="-342900" algn="l" defTabSz="1371600" rtl="0" eaLnBrk="1" latinLnBrk="0" hangingPunct="1">
        <a:spcBef>
          <a:spcPct val="20000"/>
        </a:spcBef>
        <a:buFont typeface="Arial" pitchFamily="34" charset="0"/>
        <a:buChar char="•"/>
        <a:defRPr sz="3000" kern="1200">
          <a:solidFill>
            <a:schemeClr val="tx1"/>
          </a:solidFill>
          <a:latin typeface="+mn-lt"/>
          <a:ea typeface="+mn-ea"/>
          <a:cs typeface="+mn-cs"/>
        </a:defRPr>
      </a:lvl6pPr>
      <a:lvl7pPr marL="4457700" indent="-342900" algn="l" defTabSz="1371600" rtl="0" eaLnBrk="1" latinLnBrk="0" hangingPunct="1">
        <a:spcBef>
          <a:spcPct val="20000"/>
        </a:spcBef>
        <a:buFont typeface="Arial" pitchFamily="34" charset="0"/>
        <a:buChar char="•"/>
        <a:defRPr sz="3000" kern="1200">
          <a:solidFill>
            <a:schemeClr val="tx1"/>
          </a:solidFill>
          <a:latin typeface="+mn-lt"/>
          <a:ea typeface="+mn-ea"/>
          <a:cs typeface="+mn-cs"/>
        </a:defRPr>
      </a:lvl7pPr>
      <a:lvl8pPr marL="5143500" indent="-342900" algn="l" defTabSz="1371600" rtl="0" eaLnBrk="1" latinLnBrk="0" hangingPunct="1">
        <a:spcBef>
          <a:spcPct val="20000"/>
        </a:spcBef>
        <a:buFont typeface="Arial" pitchFamily="34" charset="0"/>
        <a:buChar char="•"/>
        <a:defRPr sz="3000" kern="1200">
          <a:solidFill>
            <a:schemeClr val="tx1"/>
          </a:solidFill>
          <a:latin typeface="+mn-lt"/>
          <a:ea typeface="+mn-ea"/>
          <a:cs typeface="+mn-cs"/>
        </a:defRPr>
      </a:lvl8pPr>
      <a:lvl9pPr marL="5829300" indent="-342900" algn="l" defTabSz="1371600" rtl="0" eaLnBrk="1" latinLnBrk="0" hangingPunct="1">
        <a:spcBef>
          <a:spcPct val="20000"/>
        </a:spcBef>
        <a:buFont typeface="Arial" pitchFamily="34" charset="0"/>
        <a:buChar char="•"/>
        <a:defRPr sz="3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2057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4290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114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800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486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22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/>
          <p:nvPr/>
        </p:nvSpPr>
        <p:spPr>
          <a:xfrm>
            <a:off x="16414828" y="0"/>
            <a:ext cx="11323471" cy="10287000"/>
          </a:xfrm>
          <a:custGeom>
            <a:avLst/>
            <a:gdLst/>
            <a:ahLst/>
            <a:cxnLst/>
            <a:rect l="l" t="t" r="r" b="b"/>
            <a:pathLst>
              <a:path w="11323471" h="10287000" extrusionOk="0">
                <a:moveTo>
                  <a:pt x="0" y="0"/>
                </a:moveTo>
                <a:lnTo>
                  <a:pt x="11323471" y="0"/>
                </a:lnTo>
                <a:lnTo>
                  <a:pt x="11323471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t="-8701" r="-6656" b="-8700"/>
            </a:stretch>
          </a:blip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43" name="Google Shape;43;p10"/>
          <p:cNvSpPr/>
          <p:nvPr/>
        </p:nvSpPr>
        <p:spPr>
          <a:xfrm>
            <a:off x="8863025" y="5988797"/>
            <a:ext cx="6420159" cy="3402684"/>
          </a:xfrm>
          <a:custGeom>
            <a:avLst/>
            <a:gdLst/>
            <a:ahLst/>
            <a:cxnLst/>
            <a:rect l="l" t="t" r="r" b="b"/>
            <a:pathLst>
              <a:path w="6420159" h="3402684" extrusionOk="0">
                <a:moveTo>
                  <a:pt x="0" y="0"/>
                </a:moveTo>
                <a:lnTo>
                  <a:pt x="6420159" y="0"/>
                </a:lnTo>
                <a:lnTo>
                  <a:pt x="6420159" y="3402684"/>
                </a:lnTo>
                <a:lnTo>
                  <a:pt x="0" y="340268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IN"/>
          </a:p>
        </p:txBody>
      </p:sp>
      <p:grpSp>
        <p:nvGrpSpPr>
          <p:cNvPr id="44" name="Google Shape;44;p10"/>
          <p:cNvGrpSpPr/>
          <p:nvPr/>
        </p:nvGrpSpPr>
        <p:grpSpPr>
          <a:xfrm>
            <a:off x="559119" y="8455097"/>
            <a:ext cx="3086120" cy="3266862"/>
            <a:chOff x="0" y="-47625"/>
            <a:chExt cx="812800" cy="860425"/>
          </a:xfrm>
        </p:grpSpPr>
        <p:sp>
          <p:nvSpPr>
            <p:cNvPr id="45" name="Google Shape;45;p10"/>
            <p:cNvSpPr/>
            <p:nvPr/>
          </p:nvSpPr>
          <p:spPr>
            <a:xfrm>
              <a:off x="0" y="0"/>
              <a:ext cx="812800" cy="42302"/>
            </a:xfrm>
            <a:custGeom>
              <a:avLst/>
              <a:gdLst/>
              <a:ahLst/>
              <a:cxnLst/>
              <a:rect l="l" t="t" r="r" b="b"/>
              <a:pathLst>
                <a:path w="812800" h="42302" extrusionOk="0">
                  <a:moveTo>
                    <a:pt x="0" y="0"/>
                  </a:moveTo>
                  <a:lnTo>
                    <a:pt x="812800" y="0"/>
                  </a:lnTo>
                  <a:lnTo>
                    <a:pt x="812800" y="42302"/>
                  </a:lnTo>
                  <a:lnTo>
                    <a:pt x="0" y="42302"/>
                  </a:lnTo>
                  <a:close/>
                </a:path>
              </a:pathLst>
            </a:custGeom>
            <a:solidFill>
              <a:srgbClr val="2D5B8F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6" name="Google Shape;46;p10"/>
            <p:cNvSpPr txBox="1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0" name="Google Shape;50;p10"/>
          <p:cNvSpPr txBox="1"/>
          <p:nvPr/>
        </p:nvSpPr>
        <p:spPr>
          <a:xfrm>
            <a:off x="880419" y="1524487"/>
            <a:ext cx="9245400" cy="30777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IN" sz="100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  <a:latin typeface="Archivo Black"/>
              </a:rPr>
              <a:t>Sentinel </a:t>
            </a:r>
          </a:p>
          <a:p>
            <a:pPr lvl="0"/>
            <a:r>
              <a:rPr lang="en-IN" sz="100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  <a:latin typeface="Archivo Black"/>
              </a:rPr>
              <a:t>GRC </a:t>
            </a:r>
            <a:endParaRPr lang="en-US" sz="10000" b="1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  <a:latin typeface="Archivo Black"/>
            </a:endParaRPr>
          </a:p>
        </p:txBody>
      </p:sp>
      <p:sp>
        <p:nvSpPr>
          <p:cNvPr id="51" name="Google Shape;51;p10"/>
          <p:cNvSpPr txBox="1"/>
          <p:nvPr/>
        </p:nvSpPr>
        <p:spPr>
          <a:xfrm>
            <a:off x="585578" y="9176037"/>
            <a:ext cx="3426600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rgbClr val="71CBEF"/>
                </a:solidFill>
                <a:latin typeface="Noto Sans"/>
                <a:ea typeface="Noto Sans"/>
                <a:cs typeface="Noto Sans"/>
                <a:sym typeface="Noto Sans"/>
              </a:rPr>
              <a:t>By Pranjal Ambwani</a:t>
            </a:r>
            <a:endParaRPr sz="2000" dirty="0"/>
          </a:p>
        </p:txBody>
      </p:sp>
      <p:pic>
        <p:nvPicPr>
          <p:cNvPr id="52" name="Google Shape;52;p1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379626" y="0"/>
            <a:ext cx="9081226" cy="1052917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811DC41-C793-4861-4313-DE79412AAD5C}"/>
              </a:ext>
            </a:extLst>
          </p:cNvPr>
          <p:cNvSpPr txBox="1"/>
          <p:nvPr/>
        </p:nvSpPr>
        <p:spPr>
          <a:xfrm>
            <a:off x="585578" y="4699945"/>
            <a:ext cx="7599406" cy="12464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dirty="0">
                <a:solidFill>
                  <a:srgbClr val="9DAEC6"/>
                </a:solidFill>
                <a:latin typeface="+mj-lt"/>
              </a:rPr>
              <a:t>AI-assisted platform for technology configuration &amp; compliance assessment</a:t>
            </a:r>
          </a:p>
          <a:p>
            <a:endParaRPr lang="en-IN" sz="2500" dirty="0">
              <a:latin typeface="+mj-l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6" name="Google Shape;76;p1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77" name="Google Shape;77;p12"/>
            <p:cNvSpPr/>
            <p:nvPr/>
          </p:nvSpPr>
          <p:spPr>
            <a:xfrm rot="5400000">
              <a:off x="8503696" y="-8503696"/>
              <a:ext cx="7376608" cy="24384000"/>
            </a:xfrm>
            <a:custGeom>
              <a:avLst/>
              <a:gdLst/>
              <a:ahLst/>
              <a:cxnLst/>
              <a:rect l="l" t="t" r="r" b="b"/>
              <a:pathLst>
                <a:path w="7376608" h="24384000" extrusionOk="0">
                  <a:moveTo>
                    <a:pt x="0" y="0"/>
                  </a:moveTo>
                  <a:lnTo>
                    <a:pt x="7376608" y="0"/>
                  </a:lnTo>
                  <a:lnTo>
                    <a:pt x="7376608" y="24384000"/>
                  </a:lnTo>
                  <a:lnTo>
                    <a:pt x="0" y="2438400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l="-25548" r="-205007"/>
              </a:stretch>
            </a:blip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78" name="Google Shape;78;p12"/>
            <p:cNvSpPr/>
            <p:nvPr/>
          </p:nvSpPr>
          <p:spPr>
            <a:xfrm rot="5400000" flipH="1">
              <a:off x="9022304" y="-1645696"/>
              <a:ext cx="6339392" cy="24384000"/>
            </a:xfrm>
            <a:custGeom>
              <a:avLst/>
              <a:gdLst/>
              <a:ahLst/>
              <a:cxnLst/>
              <a:rect l="l" t="t" r="r" b="b"/>
              <a:pathLst>
                <a:path w="6339392" h="24384000" extrusionOk="0">
                  <a:moveTo>
                    <a:pt x="0" y="24384000"/>
                  </a:moveTo>
                  <a:lnTo>
                    <a:pt x="6339392" y="24384000"/>
                  </a:lnTo>
                  <a:lnTo>
                    <a:pt x="6339392" y="0"/>
                  </a:lnTo>
                  <a:lnTo>
                    <a:pt x="0" y="0"/>
                  </a:lnTo>
                  <a:lnTo>
                    <a:pt x="0" y="2438400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l="-29726" r="-254888"/>
              </a:stretch>
            </a:blip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79" name="Google Shape;79;p12"/>
          <p:cNvGrpSpPr/>
          <p:nvPr/>
        </p:nvGrpSpPr>
        <p:grpSpPr>
          <a:xfrm>
            <a:off x="758421" y="946313"/>
            <a:ext cx="16771083" cy="8774008"/>
            <a:chOff x="0" y="-241102"/>
            <a:chExt cx="22361444" cy="11698677"/>
          </a:xfrm>
        </p:grpSpPr>
        <p:grpSp>
          <p:nvGrpSpPr>
            <p:cNvPr id="80" name="Google Shape;80;p12"/>
            <p:cNvGrpSpPr/>
            <p:nvPr/>
          </p:nvGrpSpPr>
          <p:grpSpPr>
            <a:xfrm>
              <a:off x="0" y="-241102"/>
              <a:ext cx="22361444" cy="11698677"/>
              <a:chOff x="0" y="-47625"/>
              <a:chExt cx="4417075" cy="2310850"/>
            </a:xfrm>
          </p:grpSpPr>
          <p:sp>
            <p:nvSpPr>
              <p:cNvPr id="81" name="Google Shape;81;p12"/>
              <p:cNvSpPr/>
              <p:nvPr/>
            </p:nvSpPr>
            <p:spPr>
              <a:xfrm>
                <a:off x="0" y="0"/>
                <a:ext cx="4417075" cy="2263225"/>
              </a:xfrm>
              <a:custGeom>
                <a:avLst/>
                <a:gdLst/>
                <a:ahLst/>
                <a:cxnLst/>
                <a:rect l="l" t="t" r="r" b="b"/>
                <a:pathLst>
                  <a:path w="4417075" h="2263225" extrusionOk="0">
                    <a:moveTo>
                      <a:pt x="0" y="0"/>
                    </a:moveTo>
                    <a:lnTo>
                      <a:pt x="4417075" y="0"/>
                    </a:lnTo>
                    <a:lnTo>
                      <a:pt x="4417075" y="2263225"/>
                    </a:lnTo>
                    <a:lnTo>
                      <a:pt x="0" y="2263225"/>
                    </a:lnTo>
                    <a:close/>
                  </a:path>
                </a:pathLst>
              </a:custGeom>
              <a:solidFill>
                <a:srgbClr val="0F1A38"/>
              </a:solidFill>
              <a:ln>
                <a:noFill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82" name="Google Shape;82;p12"/>
              <p:cNvSpPr txBox="1"/>
              <p:nvPr/>
            </p:nvSpPr>
            <p:spPr>
              <a:xfrm>
                <a:off x="0" y="-47625"/>
                <a:ext cx="812800" cy="8604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3" name="Google Shape;83;p12"/>
            <p:cNvGrpSpPr/>
            <p:nvPr/>
          </p:nvGrpSpPr>
          <p:grpSpPr>
            <a:xfrm>
              <a:off x="698199" y="414054"/>
              <a:ext cx="20876442" cy="10385854"/>
              <a:chOff x="0" y="-47625"/>
              <a:chExt cx="4123742" cy="2051527"/>
            </a:xfrm>
          </p:grpSpPr>
          <p:sp>
            <p:nvSpPr>
              <p:cNvPr id="84" name="Google Shape;84;p12"/>
              <p:cNvSpPr/>
              <p:nvPr/>
            </p:nvSpPr>
            <p:spPr>
              <a:xfrm>
                <a:off x="0" y="0"/>
                <a:ext cx="4123742" cy="2003902"/>
              </a:xfrm>
              <a:custGeom>
                <a:avLst/>
                <a:gdLst/>
                <a:ahLst/>
                <a:cxnLst/>
                <a:rect l="l" t="t" r="r" b="b"/>
                <a:pathLst>
                  <a:path w="4123742" h="2003902" extrusionOk="0">
                    <a:moveTo>
                      <a:pt x="0" y="0"/>
                    </a:moveTo>
                    <a:lnTo>
                      <a:pt x="4123742" y="0"/>
                    </a:lnTo>
                    <a:lnTo>
                      <a:pt x="4123742" y="2003902"/>
                    </a:lnTo>
                    <a:lnTo>
                      <a:pt x="0" y="2003902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sq" cmpd="sng">
                <a:solidFill>
                  <a:srgbClr val="71CBEF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85" name="Google Shape;85;p12"/>
              <p:cNvSpPr txBox="1"/>
              <p:nvPr/>
            </p:nvSpPr>
            <p:spPr>
              <a:xfrm>
                <a:off x="0" y="-47625"/>
                <a:ext cx="812800" cy="8604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86" name="Google Shape;86;p12"/>
          <p:cNvSpPr txBox="1"/>
          <p:nvPr/>
        </p:nvSpPr>
        <p:spPr>
          <a:xfrm>
            <a:off x="7457699" y="6310550"/>
            <a:ext cx="3306074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/>
            <a:r>
              <a:rPr lang="en-IN" sz="2800" dirty="0">
                <a:solidFill>
                  <a:srgbClr val="71CBEF"/>
                </a:solidFill>
              </a:rPr>
              <a:t>ARCHITECTURE</a:t>
            </a:r>
          </a:p>
        </p:txBody>
      </p:sp>
      <p:sp>
        <p:nvSpPr>
          <p:cNvPr id="87" name="Google Shape;87;p12"/>
          <p:cNvSpPr txBox="1"/>
          <p:nvPr/>
        </p:nvSpPr>
        <p:spPr>
          <a:xfrm>
            <a:off x="7490963" y="7202862"/>
            <a:ext cx="3306000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Prototype design &amp; enterprise evolution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.  </a:t>
            </a:r>
            <a:endParaRPr dirty="0"/>
          </a:p>
        </p:txBody>
      </p:sp>
      <p:sp>
        <p:nvSpPr>
          <p:cNvPr id="88" name="Google Shape;88;p12"/>
          <p:cNvSpPr txBox="1"/>
          <p:nvPr/>
        </p:nvSpPr>
        <p:spPr>
          <a:xfrm>
            <a:off x="2825120" y="6287897"/>
            <a:ext cx="3455733" cy="19820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/>
            <a:r>
              <a:rPr lang="en-IN" sz="2800" dirty="0">
                <a:solidFill>
                  <a:srgbClr val="71CBEF"/>
                </a:solidFill>
              </a:rPr>
              <a:t>SOLUTION &amp; PROBLEM</a:t>
            </a:r>
          </a:p>
          <a:p>
            <a:pPr algn="ctr"/>
            <a:endParaRPr lang="en-IN" sz="2800" dirty="0">
              <a:solidFill>
                <a:srgbClr val="71CBEF"/>
              </a:solidFill>
            </a:endParaRPr>
          </a:p>
          <a:p>
            <a:pPr algn="ctr"/>
            <a:endParaRPr lang="en-IN" sz="2800" dirty="0">
              <a:solidFill>
                <a:srgbClr val="71CBEF"/>
              </a:solidFill>
            </a:endParaRPr>
          </a:p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9" name="Google Shape;89;p12"/>
          <p:cNvSpPr txBox="1"/>
          <p:nvPr/>
        </p:nvSpPr>
        <p:spPr>
          <a:xfrm>
            <a:off x="2865983" y="7326387"/>
            <a:ext cx="3306000" cy="9541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/>
            <a:r>
              <a:rPr lang="en-IN" sz="2400" dirty="0">
                <a:solidFill>
                  <a:srgbClr val="FFFFFF"/>
                </a:solidFill>
              </a:rPr>
              <a:t>Purpose, scope &amp; objectives. 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0" name="Google Shape;90;p12"/>
          <p:cNvSpPr txBox="1"/>
          <p:nvPr/>
        </p:nvSpPr>
        <p:spPr>
          <a:xfrm>
            <a:off x="11966247" y="6259282"/>
            <a:ext cx="3794478" cy="1034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none" strike="noStrike" cap="none" dirty="0">
                <a:solidFill>
                  <a:srgbClr val="71CBEF"/>
                </a:solidFill>
                <a:latin typeface="Arial"/>
                <a:ea typeface="Arial"/>
                <a:cs typeface="Arial"/>
                <a:sym typeface="Arial"/>
              </a:rPr>
              <a:t>VALIDATION</a:t>
            </a:r>
          </a:p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 dirty="0"/>
          </a:p>
        </p:txBody>
      </p:sp>
      <p:sp>
        <p:nvSpPr>
          <p:cNvPr id="91" name="Google Shape;91;p12"/>
          <p:cNvSpPr txBox="1"/>
          <p:nvPr/>
        </p:nvSpPr>
        <p:spPr>
          <a:xfrm>
            <a:off x="12210486" y="7202862"/>
            <a:ext cx="33060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Core test scenarios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endParaRPr dirty="0"/>
          </a:p>
        </p:txBody>
      </p:sp>
      <p:sp>
        <p:nvSpPr>
          <p:cNvPr id="92" name="Google Shape;92;p12"/>
          <p:cNvSpPr txBox="1"/>
          <p:nvPr/>
        </p:nvSpPr>
        <p:spPr>
          <a:xfrm>
            <a:off x="4339826" y="1920206"/>
            <a:ext cx="9608349" cy="10628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999" b="0" i="0" u="none" strike="noStrike" cap="none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Table Of Contents</a:t>
            </a:r>
            <a:endParaRPr/>
          </a:p>
        </p:txBody>
      </p:sp>
      <p:pic>
        <p:nvPicPr>
          <p:cNvPr id="93" name="Google Shape;93;p1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92888" y="3738525"/>
            <a:ext cx="2111980" cy="21119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783083" y="3709910"/>
            <a:ext cx="2111980" cy="21119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087988" y="3738525"/>
            <a:ext cx="2111975" cy="2111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3"/>
          <p:cNvGrpSpPr/>
          <p:nvPr/>
        </p:nvGrpSpPr>
        <p:grpSpPr>
          <a:xfrm>
            <a:off x="777407" y="847874"/>
            <a:ext cx="16173852" cy="8410426"/>
            <a:chOff x="0" y="-47625"/>
            <a:chExt cx="4259780" cy="2215092"/>
          </a:xfrm>
        </p:grpSpPr>
        <p:sp>
          <p:nvSpPr>
            <p:cNvPr id="101" name="Google Shape;101;p13"/>
            <p:cNvSpPr/>
            <p:nvPr/>
          </p:nvSpPr>
          <p:spPr>
            <a:xfrm>
              <a:off x="0" y="0"/>
              <a:ext cx="4259780" cy="2167467"/>
            </a:xfrm>
            <a:custGeom>
              <a:avLst/>
              <a:gdLst/>
              <a:ahLst/>
              <a:cxnLst/>
              <a:rect l="l" t="t" r="r" b="b"/>
              <a:pathLst>
                <a:path w="4259780" h="2167467" extrusionOk="0">
                  <a:moveTo>
                    <a:pt x="0" y="0"/>
                  </a:moveTo>
                  <a:lnTo>
                    <a:pt x="4259780" y="0"/>
                  </a:lnTo>
                  <a:lnTo>
                    <a:pt x="4259780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 cmpd="sng">
              <a:solidFill>
                <a:srgbClr val="71CBEF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02" name="Google Shape;102;p13"/>
            <p:cNvSpPr txBox="1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3" name="Google Shape;103;p13"/>
          <p:cNvSpPr txBox="1"/>
          <p:nvPr/>
        </p:nvSpPr>
        <p:spPr>
          <a:xfrm>
            <a:off x="1613453" y="3799125"/>
            <a:ext cx="7530547" cy="25853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0" b="0" i="0" u="none" strike="noStrike" cap="none" dirty="0">
                <a:solidFill>
                  <a:srgbClr val="71CBEF"/>
                </a:solidFill>
                <a:latin typeface="Archivo Black"/>
                <a:ea typeface="Archivo Black"/>
                <a:cs typeface="Archivo Black"/>
                <a:sym typeface="Archivo Black"/>
              </a:rPr>
              <a:t>SOLUTION&amp; PROBLEM</a:t>
            </a:r>
          </a:p>
        </p:txBody>
      </p:sp>
      <p:sp>
        <p:nvSpPr>
          <p:cNvPr id="104" name="Google Shape;104;p13"/>
          <p:cNvSpPr/>
          <p:nvPr/>
        </p:nvSpPr>
        <p:spPr>
          <a:xfrm>
            <a:off x="5130990" y="5798284"/>
            <a:ext cx="4722948" cy="4344779"/>
          </a:xfrm>
          <a:custGeom>
            <a:avLst/>
            <a:gdLst/>
            <a:ahLst/>
            <a:cxnLst/>
            <a:rect l="l" t="t" r="r" b="b"/>
            <a:pathLst>
              <a:path w="4722948" h="4344779" extrusionOk="0">
                <a:moveTo>
                  <a:pt x="0" y="0"/>
                </a:moveTo>
                <a:lnTo>
                  <a:pt x="4722948" y="0"/>
                </a:lnTo>
                <a:lnTo>
                  <a:pt x="4722948" y="4344779"/>
                </a:lnTo>
                <a:lnTo>
                  <a:pt x="0" y="434477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t="-8701"/>
            </a:stretch>
          </a:blipFill>
          <a:ln>
            <a:noFill/>
          </a:ln>
        </p:spPr>
        <p:txBody>
          <a:bodyPr/>
          <a:lstStyle/>
          <a:p>
            <a:endParaRPr lang="en-IN"/>
          </a:p>
        </p:txBody>
      </p:sp>
      <p:grpSp>
        <p:nvGrpSpPr>
          <p:cNvPr id="106" name="Google Shape;106;p13"/>
          <p:cNvGrpSpPr/>
          <p:nvPr/>
        </p:nvGrpSpPr>
        <p:grpSpPr>
          <a:xfrm>
            <a:off x="1462245" y="-180826"/>
            <a:ext cx="3086101" cy="3692058"/>
            <a:chOff x="0" y="-47625"/>
            <a:chExt cx="812800" cy="972394"/>
          </a:xfrm>
        </p:grpSpPr>
        <p:sp>
          <p:nvSpPr>
            <p:cNvPr id="107" name="Google Shape;107;p13"/>
            <p:cNvSpPr/>
            <p:nvPr/>
          </p:nvSpPr>
          <p:spPr>
            <a:xfrm>
              <a:off x="0" y="0"/>
              <a:ext cx="296125" cy="924769"/>
            </a:xfrm>
            <a:custGeom>
              <a:avLst/>
              <a:gdLst/>
              <a:ahLst/>
              <a:cxnLst/>
              <a:rect l="l" t="t" r="r" b="b"/>
              <a:pathLst>
                <a:path w="296125" h="924769" extrusionOk="0">
                  <a:moveTo>
                    <a:pt x="0" y="0"/>
                  </a:moveTo>
                  <a:lnTo>
                    <a:pt x="296125" y="0"/>
                  </a:lnTo>
                  <a:lnTo>
                    <a:pt x="296125" y="924769"/>
                  </a:lnTo>
                  <a:lnTo>
                    <a:pt x="0" y="924769"/>
                  </a:lnTo>
                  <a:close/>
                </a:path>
              </a:pathLst>
            </a:custGeom>
            <a:solidFill>
              <a:srgbClr val="2D5B8F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08" name="Google Shape;108;p13"/>
            <p:cNvSpPr txBox="1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9" name="Google Shape;109;p13"/>
          <p:cNvSpPr txBox="1"/>
          <p:nvPr/>
        </p:nvSpPr>
        <p:spPr>
          <a:xfrm>
            <a:off x="1604058" y="2134590"/>
            <a:ext cx="1445554" cy="13766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0" b="0" i="0" u="none" strike="noStrike" cap="none">
                <a:solidFill>
                  <a:srgbClr val="0F1A38"/>
                </a:solidFill>
                <a:latin typeface="Archivo Black"/>
                <a:ea typeface="Archivo Black"/>
                <a:cs typeface="Archivo Black"/>
                <a:sym typeface="Archivo Black"/>
              </a:rPr>
              <a:t>1</a:t>
            </a:r>
            <a:endParaRPr/>
          </a:p>
        </p:txBody>
      </p:sp>
      <p:pic>
        <p:nvPicPr>
          <p:cNvPr id="110" name="Google Shape;110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993150" y="-1239600"/>
            <a:ext cx="12766500" cy="12766200"/>
          </a:xfrm>
          <a:prstGeom prst="ellipse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1" y="617220"/>
            <a:ext cx="16641623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371600">
              <a:buClrTx/>
            </a:pPr>
            <a:r>
              <a:rPr lang="en-US" sz="4500" b="1" kern="12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Is Hard Today</a:t>
            </a:r>
          </a:p>
        </p:txBody>
      </p:sp>
      <p:sp>
        <p:nvSpPr>
          <p:cNvPr id="3" name="Shape 1"/>
          <p:cNvSpPr/>
          <p:nvPr/>
        </p:nvSpPr>
        <p:spPr>
          <a:xfrm>
            <a:off x="822960" y="1920240"/>
            <a:ext cx="16596360" cy="1783080"/>
          </a:xfrm>
          <a:prstGeom prst="roundRect">
            <a:avLst>
              <a:gd name="adj" fmla="val 4615"/>
            </a:avLst>
          </a:prstGeom>
          <a:solidFill>
            <a:srgbClr val="223451"/>
          </a:solidFill>
          <a:ln/>
        </p:spPr>
        <p:txBody>
          <a:bodyPr/>
          <a:lstStyle/>
          <a:p>
            <a:pPr defTabSz="1371600">
              <a:buClrTx/>
            </a:pPr>
            <a:endParaRPr lang="en-IN" sz="2700" kern="120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1303020" y="2125980"/>
            <a:ext cx="156362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371600">
              <a:buClrTx/>
            </a:pPr>
            <a:r>
              <a:rPr lang="en-US" sz="2400" i="1" kern="1200" dirty="0">
                <a:solidFill>
                  <a:srgbClr val="CFE9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Manual and fragmented technology compliance assessments make it difficult to manage checklists, track assessment progress, record findings consistently, monitor overall results, and prepare reports.</a:t>
            </a:r>
            <a:endParaRPr lang="en-US" sz="24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822960" y="4183380"/>
            <a:ext cx="3909060" cy="4869180"/>
          </a:xfrm>
          <a:prstGeom prst="roundRect">
            <a:avLst>
              <a:gd name="adj" fmla="val 2807"/>
            </a:avLst>
          </a:prstGeom>
          <a:solidFill>
            <a:srgbClr val="13203A"/>
          </a:solidFill>
          <a:ln/>
        </p:spPr>
        <p:txBody>
          <a:bodyPr/>
          <a:lstStyle/>
          <a:p>
            <a:pPr defTabSz="1371600">
              <a:buClrTx/>
            </a:pPr>
            <a:endParaRPr lang="en-IN" sz="2700" kern="120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1165860" y="4594860"/>
            <a:ext cx="617220" cy="82296"/>
          </a:xfrm>
          <a:prstGeom prst="roundRect">
            <a:avLst/>
          </a:prstGeom>
          <a:solidFill>
            <a:srgbClr val="C77D2E"/>
          </a:solidFill>
          <a:ln/>
        </p:spPr>
        <p:txBody>
          <a:bodyPr/>
          <a:lstStyle/>
          <a:p>
            <a:pPr defTabSz="1371600">
              <a:buClrTx/>
            </a:pPr>
            <a:endParaRPr lang="en-IN" sz="2700" kern="120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1165860" y="4869180"/>
            <a:ext cx="3223260" cy="11658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defTabSz="1371600">
              <a:buClrTx/>
            </a:pPr>
            <a:r>
              <a:rPr lang="en-US" sz="2175" b="1" kern="12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Duplicated Checklists</a:t>
            </a:r>
            <a:endParaRPr lang="en-US" sz="2175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1165860" y="6103620"/>
            <a:ext cx="322326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defTabSz="1371600">
              <a:buClrTx/>
            </a:pPr>
            <a:r>
              <a:rPr lang="en-US" sz="1725" kern="1200" dirty="0">
                <a:solidFill>
                  <a:srgbClr val="C7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Checklists are duplicated across files and can go out of date without anyone noticing.</a:t>
            </a:r>
            <a:endParaRPr lang="en-US" sz="1725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5116068" y="4183380"/>
            <a:ext cx="3909060" cy="4869180"/>
          </a:xfrm>
          <a:prstGeom prst="roundRect">
            <a:avLst>
              <a:gd name="adj" fmla="val 2807"/>
            </a:avLst>
          </a:prstGeom>
          <a:solidFill>
            <a:srgbClr val="13203A"/>
          </a:solidFill>
          <a:ln/>
        </p:spPr>
        <p:txBody>
          <a:bodyPr/>
          <a:lstStyle/>
          <a:p>
            <a:pPr defTabSz="1371600">
              <a:buClrTx/>
            </a:pPr>
            <a:endParaRPr lang="en-IN" sz="2700" kern="120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5458968" y="4594860"/>
            <a:ext cx="617220" cy="82296"/>
          </a:xfrm>
          <a:prstGeom prst="roundRect">
            <a:avLst/>
          </a:prstGeom>
          <a:solidFill>
            <a:srgbClr val="C77D2E"/>
          </a:solidFill>
          <a:ln/>
        </p:spPr>
        <p:txBody>
          <a:bodyPr/>
          <a:lstStyle/>
          <a:p>
            <a:pPr defTabSz="1371600">
              <a:buClrTx/>
            </a:pPr>
            <a:endParaRPr lang="en-IN" sz="2700" kern="120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5458968" y="4869180"/>
            <a:ext cx="3223260" cy="11658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defTabSz="1371600">
              <a:buClrTx/>
            </a:pPr>
            <a:r>
              <a:rPr lang="en-US" sz="2175" b="1" kern="12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Inconsistent Findings</a:t>
            </a:r>
            <a:endParaRPr lang="en-US" sz="2175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5458968" y="6103620"/>
            <a:ext cx="322326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defTabSz="1371600">
              <a:buClrTx/>
            </a:pPr>
            <a:r>
              <a:rPr lang="en-US" sz="1725" kern="1200" dirty="0">
                <a:solidFill>
                  <a:srgbClr val="C7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 are recorded inconsistently between reviewers, since there is no shared format or single source of truth.</a:t>
            </a:r>
            <a:endParaRPr lang="en-US" sz="1725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9409176" y="4183380"/>
            <a:ext cx="3909060" cy="4869180"/>
          </a:xfrm>
          <a:prstGeom prst="roundRect">
            <a:avLst>
              <a:gd name="adj" fmla="val 2807"/>
            </a:avLst>
          </a:prstGeom>
          <a:solidFill>
            <a:srgbClr val="13203A"/>
          </a:solidFill>
          <a:ln/>
        </p:spPr>
        <p:txBody>
          <a:bodyPr/>
          <a:lstStyle/>
          <a:p>
            <a:pPr defTabSz="1371600">
              <a:buClrTx/>
            </a:pPr>
            <a:endParaRPr lang="en-IN" sz="2700" kern="120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9752076" y="4594860"/>
            <a:ext cx="617220" cy="82296"/>
          </a:xfrm>
          <a:prstGeom prst="roundRect">
            <a:avLst/>
          </a:prstGeom>
          <a:solidFill>
            <a:srgbClr val="C77D2E"/>
          </a:solidFill>
          <a:ln/>
        </p:spPr>
        <p:txBody>
          <a:bodyPr/>
          <a:lstStyle/>
          <a:p>
            <a:pPr defTabSz="1371600">
              <a:buClrTx/>
            </a:pPr>
            <a:endParaRPr lang="en-IN" sz="2700" kern="120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/>
          <p:cNvSpPr txBox="1"/>
          <p:nvPr/>
        </p:nvSpPr>
        <p:spPr>
          <a:xfrm>
            <a:off x="9752076" y="4869180"/>
            <a:ext cx="3223260" cy="11658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defTabSz="1371600">
              <a:buClrTx/>
            </a:pPr>
            <a:r>
              <a:rPr lang="en-US" sz="2175" b="1" kern="12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Single View</a:t>
            </a:r>
            <a:endParaRPr lang="en-US" sz="2175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4"/>
          <p:cNvSpPr txBox="1"/>
          <p:nvPr/>
        </p:nvSpPr>
        <p:spPr>
          <a:xfrm>
            <a:off x="9752076" y="6103620"/>
            <a:ext cx="322326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defTabSz="1371600">
              <a:buClrTx/>
            </a:pPr>
            <a:r>
              <a:rPr lang="en-US" sz="1725" kern="1200" dirty="0">
                <a:solidFill>
                  <a:srgbClr val="C7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no single place to see overall compliance status at  a glance, delaying identification of non-compliant configurations.</a:t>
            </a:r>
            <a:endParaRPr lang="en-US" sz="1725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13702284" y="4183380"/>
            <a:ext cx="3909060" cy="4869180"/>
          </a:xfrm>
          <a:prstGeom prst="roundRect">
            <a:avLst>
              <a:gd name="adj" fmla="val 2807"/>
            </a:avLst>
          </a:prstGeom>
          <a:solidFill>
            <a:srgbClr val="13203A"/>
          </a:solidFill>
          <a:ln/>
        </p:spPr>
        <p:txBody>
          <a:bodyPr/>
          <a:lstStyle/>
          <a:p>
            <a:pPr defTabSz="1371600">
              <a:buClrTx/>
            </a:pPr>
            <a:endParaRPr lang="en-IN" sz="2700" kern="120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14045184" y="4594860"/>
            <a:ext cx="617220" cy="82296"/>
          </a:xfrm>
          <a:prstGeom prst="roundRect">
            <a:avLst/>
          </a:prstGeom>
          <a:solidFill>
            <a:srgbClr val="C77D2E"/>
          </a:solidFill>
          <a:ln/>
        </p:spPr>
        <p:txBody>
          <a:bodyPr/>
          <a:lstStyle/>
          <a:p>
            <a:pPr defTabSz="1371600">
              <a:buClrTx/>
            </a:pPr>
            <a:endParaRPr lang="en-IN" sz="2700" kern="120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7"/>
          <p:cNvSpPr txBox="1"/>
          <p:nvPr/>
        </p:nvSpPr>
        <p:spPr>
          <a:xfrm>
            <a:off x="14045184" y="4869180"/>
            <a:ext cx="3223260" cy="11658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defTabSz="1371600">
              <a:buClrTx/>
            </a:pPr>
            <a:r>
              <a:rPr lang="en-US" sz="2175" b="1" kern="12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Slow Manual Reporting</a:t>
            </a:r>
            <a:endParaRPr lang="en-US" sz="2175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 18"/>
          <p:cNvSpPr txBox="1"/>
          <p:nvPr/>
        </p:nvSpPr>
        <p:spPr>
          <a:xfrm>
            <a:off x="14045184" y="6103620"/>
            <a:ext cx="322326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defTabSz="1371600">
              <a:buClrTx/>
            </a:pPr>
            <a:r>
              <a:rPr lang="en-US" sz="1725" kern="1200" dirty="0">
                <a:solidFill>
                  <a:srgbClr val="C7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Preparing a final report means manually gathering information from scattered sources — slow and prone to error.</a:t>
            </a:r>
            <a:endParaRPr lang="en-US" sz="1725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extBox 37">
            <a:extLst>
              <a:ext uri="{FF2B5EF4-FFF2-40B4-BE49-F238E27FC236}">
                <a16:creationId xmlns:a16="http://schemas.microsoft.com/office/drawing/2014/main" id="{6E9903FE-C80E-D68F-05E0-D71498A79B7E}"/>
              </a:ext>
            </a:extLst>
          </p:cNvPr>
          <p:cNvSpPr txBox="1"/>
          <p:nvPr/>
        </p:nvSpPr>
        <p:spPr>
          <a:xfrm>
            <a:off x="822960" y="797421"/>
            <a:ext cx="91440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000" b="1" dirty="0">
                <a:solidFill>
                  <a:srgbClr val="00B0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Solution Design Overview — Purpose &amp; Objectives</a:t>
            </a:r>
            <a:endParaRPr lang="en-IN" dirty="0">
              <a:solidFill>
                <a:srgbClr val="00B0F0"/>
              </a:solidFill>
            </a:endParaRPr>
          </a:p>
        </p:txBody>
      </p:sp>
      <p:sp>
        <p:nvSpPr>
          <p:cNvPr id="52" name="Shape 1">
            <a:extLst>
              <a:ext uri="{FF2B5EF4-FFF2-40B4-BE49-F238E27FC236}">
                <a16:creationId xmlns:a16="http://schemas.microsoft.com/office/drawing/2014/main" id="{EF4D18CC-A505-238F-E055-7991A7F3FCF2}"/>
              </a:ext>
            </a:extLst>
          </p:cNvPr>
          <p:cNvSpPr/>
          <p:nvPr/>
        </p:nvSpPr>
        <p:spPr>
          <a:xfrm>
            <a:off x="822960" y="1920240"/>
            <a:ext cx="8092440" cy="7406640"/>
          </a:xfrm>
          <a:prstGeom prst="roundRect">
            <a:avLst>
              <a:gd name="adj" fmla="val 1481"/>
            </a:avLst>
          </a:prstGeom>
          <a:solidFill>
            <a:srgbClr val="F4F6F8"/>
          </a:solidFill>
          <a:ln/>
        </p:spPr>
        <p:txBody>
          <a:bodyPr/>
          <a:lstStyle/>
          <a:p>
            <a:r>
              <a:rPr lang="en-US" sz="3000" b="1" dirty="0">
                <a:solidFill>
                  <a:srgbClr val="0F766E"/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   Purpose</a:t>
            </a:r>
            <a:endParaRPr lang="en-US" sz="3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4" name="Text 3">
            <a:extLst>
              <a:ext uri="{FF2B5EF4-FFF2-40B4-BE49-F238E27FC236}">
                <a16:creationId xmlns:a16="http://schemas.microsoft.com/office/drawing/2014/main" id="{971C99B6-EB31-0C62-7200-92711E0F7736}"/>
              </a:ext>
            </a:extLst>
          </p:cNvPr>
          <p:cNvSpPr txBox="1"/>
          <p:nvPr/>
        </p:nvSpPr>
        <p:spPr>
          <a:xfrm>
            <a:off x="1303020" y="2948940"/>
            <a:ext cx="7132320" cy="6035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15000"/>
              </a:lnSpc>
            </a:pPr>
            <a:r>
              <a:rPr lang="en-US" sz="2400" dirty="0">
                <a:solidFill>
                  <a:srgbClr val="1B2A4A"/>
                </a:solidFill>
                <a:latin typeface="+mn-lt"/>
                <a:ea typeface="Calibri" pitchFamily="34" charset="-122"/>
                <a:cs typeface="Calibri" pitchFamily="34" charset="-120"/>
              </a:rPr>
              <a:t>This document outlines the functional solution design for Sentinel GRC, an AI-assisted platform for managing technology configuration and compliance assessments. It is developed as an academic M.Tech project, providing a clear roadmap of what has been built as a working prototype, how it functions, and how it could evolve into an enterprise-grade platform.</a:t>
            </a:r>
            <a:endParaRPr lang="en-US" sz="2400" dirty="0">
              <a:latin typeface="+mn-lt"/>
            </a:endParaRPr>
          </a:p>
        </p:txBody>
      </p:sp>
      <p:sp>
        <p:nvSpPr>
          <p:cNvPr id="56" name="Shape 4">
            <a:extLst>
              <a:ext uri="{FF2B5EF4-FFF2-40B4-BE49-F238E27FC236}">
                <a16:creationId xmlns:a16="http://schemas.microsoft.com/office/drawing/2014/main" id="{4F4D8654-7ED4-8A3A-2905-A171589E65C0}"/>
              </a:ext>
            </a:extLst>
          </p:cNvPr>
          <p:cNvSpPr/>
          <p:nvPr/>
        </p:nvSpPr>
        <p:spPr>
          <a:xfrm>
            <a:off x="9144000" y="1920240"/>
            <a:ext cx="8092440" cy="7406640"/>
          </a:xfrm>
          <a:prstGeom prst="roundRect">
            <a:avLst>
              <a:gd name="adj" fmla="val 1481"/>
            </a:avLst>
          </a:prstGeom>
          <a:solidFill>
            <a:srgbClr val="1B2A4A"/>
          </a:solidFill>
          <a:ln/>
        </p:spPr>
        <p:txBody>
          <a:bodyPr/>
          <a:lstStyle/>
          <a:p>
            <a:pPr>
              <a:spcAft>
                <a:spcPts val="1800"/>
              </a:spcAft>
              <a:buSzPct val="100000"/>
            </a:pPr>
            <a:r>
              <a:rPr lang="en-US" sz="3000" b="1" dirty="0">
                <a:solidFill>
                  <a:srgbClr val="CFE9E6"/>
                </a:solidFill>
                <a:latin typeface="+mj-lt"/>
                <a:ea typeface="Cambria" pitchFamily="34" charset="-122"/>
                <a:cs typeface="Cambria" pitchFamily="34" charset="-120"/>
              </a:rPr>
              <a:t>         Objectives</a:t>
            </a:r>
            <a:endParaRPr lang="en-US" sz="3000" dirty="0">
              <a:solidFill>
                <a:srgbClr val="FFFFFF"/>
              </a:solidFill>
              <a:latin typeface="+mj-lt"/>
              <a:ea typeface="Calibri" pitchFamily="34" charset="-122"/>
              <a:cs typeface="Calibri" pitchFamily="34" charset="-120"/>
            </a:endParaRPr>
          </a:p>
          <a:p>
            <a:pPr marL="266700" indent="-266700">
              <a:spcAft>
                <a:spcPts val="18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  <a:latin typeface="+mj-lt"/>
                <a:ea typeface="Calibri" pitchFamily="34" charset="-122"/>
                <a:cs typeface="Calibri" pitchFamily="34" charset="-120"/>
              </a:rPr>
              <a:t>Deliver a working single-user prototype that demonstrates the full compliance assessment workflow, from checklist selection to report generation.</a:t>
            </a:r>
            <a:endParaRPr lang="en-US" sz="2400" dirty="0">
              <a:latin typeface="+mj-lt"/>
            </a:endParaRPr>
          </a:p>
          <a:p>
            <a:pPr marL="266700" indent="-266700">
              <a:spcAft>
                <a:spcPts val="18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  <a:latin typeface="+mj-lt"/>
                <a:ea typeface="Calibri" pitchFamily="34" charset="-122"/>
                <a:cs typeface="Calibri" pitchFamily="34" charset="-120"/>
              </a:rPr>
              <a:t>Demonstrate a practical, human-supervised use of AI: generating draft checklists for new technologies, always subject to human review.</a:t>
            </a:r>
            <a:endParaRPr lang="en-US" sz="2400" dirty="0">
              <a:latin typeface="+mj-lt"/>
            </a:endParaRPr>
          </a:p>
          <a:p>
            <a:pPr marL="266700" indent="-266700">
              <a:spcAft>
                <a:spcPts val="18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  <a:latin typeface="+mj-lt"/>
                <a:ea typeface="Calibri" pitchFamily="34" charset="-122"/>
                <a:cs typeface="Calibri" pitchFamily="34" charset="-120"/>
              </a:rPr>
              <a:t>Provide a compliance dashboard that gives a clear, consolidated view of assessment status.</a:t>
            </a:r>
            <a:endParaRPr lang="en-US" sz="2400" dirty="0">
              <a:latin typeface="+mj-lt"/>
            </a:endParaRPr>
          </a:p>
          <a:p>
            <a:pPr marL="266700" indent="-266700">
              <a:spcAft>
                <a:spcPts val="18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  <a:latin typeface="+mj-lt"/>
                <a:ea typeface="Calibri" pitchFamily="34" charset="-122"/>
                <a:cs typeface="Calibri" pitchFamily="34" charset="-120"/>
              </a:rPr>
              <a:t>Establish a layered architecture that can realistically scale into an enterprise-ready platform without a full redesign</a:t>
            </a:r>
            <a:endParaRPr lang="en-US" sz="2400" b="1" dirty="0">
              <a:solidFill>
                <a:srgbClr val="0F766E"/>
              </a:solidFill>
              <a:latin typeface="+mj-lt"/>
              <a:ea typeface="Cambria" pitchFamily="34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654855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>
          <a:extLst>
            <a:ext uri="{FF2B5EF4-FFF2-40B4-BE49-F238E27FC236}">
              <a16:creationId xmlns:a16="http://schemas.microsoft.com/office/drawing/2014/main" id="{6372BCCC-888B-4779-4714-94A9BBE5B3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26">
            <a:extLst>
              <a:ext uri="{FF2B5EF4-FFF2-40B4-BE49-F238E27FC236}">
                <a16:creationId xmlns:a16="http://schemas.microsoft.com/office/drawing/2014/main" id="{5EACDEDC-756F-0877-B093-73C596D676BC}"/>
              </a:ext>
            </a:extLst>
          </p:cNvPr>
          <p:cNvSpPr/>
          <p:nvPr/>
        </p:nvSpPr>
        <p:spPr>
          <a:xfrm>
            <a:off x="1097281" y="2400300"/>
            <a:ext cx="8046720" cy="6720840"/>
          </a:xfrm>
          <a:prstGeom prst="roundRect">
            <a:avLst/>
          </a:prstGeom>
          <a:noFill/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lvl="0" indent="-457200">
              <a:buClr>
                <a:schemeClr val="bg1"/>
              </a:buClr>
              <a:buFont typeface="Wingdings" panose="05000000000000000000" pitchFamily="2" charset="2"/>
              <a:buChar char="q"/>
            </a:pPr>
            <a:endParaRPr lang="en-IN" sz="2800" b="1" dirty="0"/>
          </a:p>
          <a:p>
            <a:pPr marL="457200" lvl="0" indent="-457200">
              <a:buClr>
                <a:schemeClr val="bg1"/>
              </a:buClr>
              <a:buFont typeface="Wingdings" panose="05000000000000000000" pitchFamily="2" charset="2"/>
              <a:buChar char="q"/>
            </a:pPr>
            <a:endParaRPr lang="en-IN" sz="2800" b="1" dirty="0"/>
          </a:p>
          <a:p>
            <a:pPr marL="457200" lvl="0" indent="-457200">
              <a:buClr>
                <a:schemeClr val="bg1"/>
              </a:buClr>
              <a:buFont typeface="Wingdings" panose="05000000000000000000" pitchFamily="2" charset="2"/>
              <a:buChar char="q"/>
            </a:pPr>
            <a:endParaRPr lang="en-IN" sz="2800" b="1" dirty="0"/>
          </a:p>
          <a:p>
            <a:pPr marL="457200" lvl="0" indent="-457200">
              <a:buClr>
                <a:schemeClr val="bg1"/>
              </a:buClr>
              <a:buFont typeface="Wingdings" panose="05000000000000000000" pitchFamily="2" charset="2"/>
              <a:buChar char="q"/>
            </a:pPr>
            <a:endParaRPr lang="en-IN" sz="2800" b="1" dirty="0"/>
          </a:p>
          <a:p>
            <a:pPr marL="457200" lvl="0" indent="-457200">
              <a:buClr>
                <a:schemeClr val="bg1"/>
              </a:buClr>
              <a:buFont typeface="Wingdings" panose="05000000000000000000" pitchFamily="2" charset="2"/>
              <a:buChar char="q"/>
            </a:pPr>
            <a:r>
              <a:rPr lang="en-IN" sz="2800" b="1" dirty="0">
                <a:solidFill>
                  <a:schemeClr val="bg1"/>
                </a:solidFill>
              </a:rPr>
              <a:t>Engagement Management</a:t>
            </a:r>
            <a:r>
              <a:rPr lang="en-IN" sz="2800" dirty="0">
                <a:solidFill>
                  <a:schemeClr val="bg1"/>
                </a:solidFill>
              </a:rPr>
              <a:t> — Create &amp; manage technology assessments </a:t>
            </a:r>
          </a:p>
          <a:p>
            <a:pPr marL="457200" lvl="0" indent="-457200">
              <a:buClr>
                <a:schemeClr val="bg1"/>
              </a:buClr>
              <a:buFont typeface="Wingdings" panose="05000000000000000000" pitchFamily="2" charset="2"/>
              <a:buChar char="q"/>
            </a:pPr>
            <a:r>
              <a:rPr lang="en-IN" sz="2800" b="1" dirty="0">
                <a:solidFill>
                  <a:schemeClr val="bg1"/>
                </a:solidFill>
              </a:rPr>
              <a:t>Checklist Management</a:t>
            </a:r>
            <a:r>
              <a:rPr lang="en-IN" sz="2800" dirty="0">
                <a:solidFill>
                  <a:schemeClr val="bg1"/>
                </a:solidFill>
              </a:rPr>
              <a:t> — Load existing or AI-generate draft checklists </a:t>
            </a:r>
          </a:p>
          <a:p>
            <a:pPr marL="457200" lvl="0" indent="-457200">
              <a:buClr>
                <a:schemeClr val="bg1"/>
              </a:buClr>
              <a:buFont typeface="Wingdings" panose="05000000000000000000" pitchFamily="2" charset="2"/>
              <a:buChar char="q"/>
            </a:pPr>
            <a:r>
              <a:rPr lang="en-IN" sz="2800" b="1" dirty="0">
                <a:solidFill>
                  <a:schemeClr val="bg1"/>
                </a:solidFill>
              </a:rPr>
              <a:t>Human-in-the-Loop</a:t>
            </a:r>
            <a:r>
              <a:rPr lang="en-IN" sz="2800" dirty="0">
                <a:solidFill>
                  <a:schemeClr val="bg1"/>
                </a:solidFill>
              </a:rPr>
              <a:t> — Review, edit, approve/reject AI-generated checklists </a:t>
            </a:r>
          </a:p>
          <a:p>
            <a:pPr marL="457200" lvl="0" indent="-457200">
              <a:buClr>
                <a:schemeClr val="bg1"/>
              </a:buClr>
              <a:buFont typeface="Wingdings" panose="05000000000000000000" pitchFamily="2" charset="2"/>
              <a:buChar char="q"/>
            </a:pPr>
            <a:r>
              <a:rPr lang="en-IN" sz="2800" b="1" dirty="0">
                <a:solidFill>
                  <a:schemeClr val="bg1"/>
                </a:solidFill>
              </a:rPr>
              <a:t>Control Assessment</a:t>
            </a:r>
            <a:r>
              <a:rPr lang="en-IN" sz="2800" dirty="0">
                <a:solidFill>
                  <a:schemeClr val="bg1"/>
                </a:solidFill>
              </a:rPr>
              <a:t> — Capture compliance status, evidence &amp; comments </a:t>
            </a:r>
          </a:p>
          <a:p>
            <a:pPr marL="457200" lvl="0" indent="-457200">
              <a:buClr>
                <a:schemeClr val="bg1"/>
              </a:buClr>
              <a:buFont typeface="Wingdings" panose="05000000000000000000" pitchFamily="2" charset="2"/>
              <a:buChar char="q"/>
            </a:pPr>
            <a:r>
              <a:rPr lang="en-IN" sz="2800" b="1" dirty="0">
                <a:solidFill>
                  <a:schemeClr val="bg1"/>
                </a:solidFill>
              </a:rPr>
              <a:t>Dashboard &amp; Reporting</a:t>
            </a:r>
            <a:r>
              <a:rPr lang="en-IN" sz="2800" dirty="0">
                <a:solidFill>
                  <a:schemeClr val="bg1"/>
                </a:solidFill>
              </a:rPr>
              <a:t> — Track progress and generate assessment reports</a:t>
            </a:r>
          </a:p>
          <a:p>
            <a:pPr marL="457200" indent="-457200">
              <a:buClr>
                <a:schemeClr val="bg1"/>
              </a:buClr>
              <a:buFont typeface="Wingdings" panose="05000000000000000000" pitchFamily="2" charset="2"/>
              <a:buChar char="q"/>
            </a:pPr>
            <a:r>
              <a:rPr lang="en-IN" sz="2800" b="1" dirty="0">
                <a:solidFill>
                  <a:schemeClr val="bg1"/>
                </a:solidFill>
              </a:rPr>
              <a:t>Production Deployment</a:t>
            </a:r>
            <a:r>
              <a:rPr lang="en-IN" sz="2800" dirty="0">
                <a:solidFill>
                  <a:schemeClr val="bg1"/>
                </a:solidFill>
              </a:rPr>
              <a:t> — CI/CD, containers &amp; cloud </a:t>
            </a:r>
          </a:p>
          <a:p>
            <a:pPr marL="457200" lvl="0" indent="-457200">
              <a:buClr>
                <a:schemeClr val="bg1"/>
              </a:buClr>
              <a:buFont typeface="Wingdings" panose="05000000000000000000" pitchFamily="2" charset="2"/>
              <a:buChar char="q"/>
            </a:pPr>
            <a:endParaRPr lang="en-IN" sz="2800" dirty="0"/>
          </a:p>
          <a:p>
            <a:pPr algn="ctr" defTabSz="685800">
              <a:buClrTx/>
            </a:pPr>
            <a:endParaRPr sz="2700" kern="1200" dirty="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7" name="Rounded Rectangle 27">
            <a:extLst>
              <a:ext uri="{FF2B5EF4-FFF2-40B4-BE49-F238E27FC236}">
                <a16:creationId xmlns:a16="http://schemas.microsoft.com/office/drawing/2014/main" id="{61A6C918-4D46-8D0E-4C1C-9F367464652F}"/>
              </a:ext>
            </a:extLst>
          </p:cNvPr>
          <p:cNvSpPr/>
          <p:nvPr/>
        </p:nvSpPr>
        <p:spPr>
          <a:xfrm>
            <a:off x="1629308" y="2726151"/>
            <a:ext cx="5394960" cy="525780"/>
          </a:xfrm>
          <a:prstGeom prst="roundRect">
            <a:avLst/>
          </a:prstGeom>
          <a:solidFill>
            <a:srgbClr val="11233D"/>
          </a:solidFill>
          <a:ln w="12700">
            <a:solidFill>
              <a:srgbClr val="2FD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buClrTx/>
            </a:pPr>
            <a:r>
              <a:rPr lang="en-IN" sz="2800" b="1" kern="1200" dirty="0">
                <a:solidFill>
                  <a:srgbClr val="2FDDDC"/>
                </a:solidFill>
                <a:latin typeface="Aptos"/>
              </a:rPr>
              <a:t>CURRENT PROTOTYPE</a:t>
            </a:r>
          </a:p>
        </p:txBody>
      </p:sp>
      <p:sp>
        <p:nvSpPr>
          <p:cNvPr id="9" name="Rounded Rectangle 42">
            <a:extLst>
              <a:ext uri="{FF2B5EF4-FFF2-40B4-BE49-F238E27FC236}">
                <a16:creationId xmlns:a16="http://schemas.microsoft.com/office/drawing/2014/main" id="{88581243-FCC7-141D-D485-9FD03868C511}"/>
              </a:ext>
            </a:extLst>
          </p:cNvPr>
          <p:cNvSpPr/>
          <p:nvPr/>
        </p:nvSpPr>
        <p:spPr>
          <a:xfrm>
            <a:off x="9676028" y="2400300"/>
            <a:ext cx="7514692" cy="6720840"/>
          </a:xfrm>
          <a:prstGeom prst="round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457200" indent="-457200">
              <a:buClr>
                <a:schemeClr val="bg1"/>
              </a:buClr>
              <a:buFont typeface="Wingdings" panose="05000000000000000000" pitchFamily="2" charset="2"/>
              <a:buChar char="q"/>
            </a:pPr>
            <a:endParaRPr lang="en-IN" sz="2800" dirty="0"/>
          </a:p>
          <a:p>
            <a:pPr marL="457200" indent="-457200">
              <a:buClr>
                <a:schemeClr val="bg1"/>
              </a:buClr>
              <a:buFont typeface="Wingdings" panose="05000000000000000000" pitchFamily="2" charset="2"/>
              <a:buChar char="q"/>
            </a:pPr>
            <a:r>
              <a:rPr lang="en-IN" sz="2800" b="1" dirty="0">
                <a:solidFill>
                  <a:schemeClr val="bg1"/>
                </a:solidFill>
              </a:rPr>
              <a:t>Multi-User Workflows </a:t>
            </a:r>
            <a:r>
              <a:rPr lang="en-IN" sz="2800" dirty="0">
                <a:solidFill>
                  <a:schemeClr val="bg1"/>
                </a:solidFill>
              </a:rPr>
              <a:t>— Access &amp; approvals </a:t>
            </a:r>
          </a:p>
          <a:p>
            <a:pPr marL="457200" indent="-457200">
              <a:buClr>
                <a:schemeClr val="bg1"/>
              </a:buClr>
              <a:buFont typeface="Wingdings" panose="05000000000000000000" pitchFamily="2" charset="2"/>
              <a:buChar char="q"/>
            </a:pPr>
            <a:r>
              <a:rPr lang="en-IN" sz="2800" b="1" dirty="0">
                <a:solidFill>
                  <a:schemeClr val="bg1"/>
                </a:solidFill>
              </a:rPr>
              <a:t>Enterprise Data Layer </a:t>
            </a:r>
            <a:r>
              <a:rPr lang="en-IN" sz="2800" dirty="0">
                <a:solidFill>
                  <a:schemeClr val="bg1"/>
                </a:solidFill>
              </a:rPr>
              <a:t>— Cloud DB &amp; multi-agent AI </a:t>
            </a:r>
          </a:p>
          <a:p>
            <a:pPr marL="457200" indent="-457200">
              <a:buClr>
                <a:schemeClr val="bg1"/>
              </a:buClr>
              <a:buFont typeface="Wingdings" panose="05000000000000000000" pitchFamily="2" charset="2"/>
              <a:buChar char="q"/>
            </a:pPr>
            <a:r>
              <a:rPr lang="en-IN" sz="2800" b="1" dirty="0">
                <a:solidFill>
                  <a:schemeClr val="bg1"/>
                </a:solidFill>
              </a:rPr>
              <a:t>Enterprise Integrations </a:t>
            </a:r>
            <a:r>
              <a:rPr lang="en-IN" sz="2800" dirty="0">
                <a:solidFill>
                  <a:schemeClr val="bg1"/>
                </a:solidFill>
              </a:rPr>
              <a:t>— Onboarding &amp; external systems </a:t>
            </a:r>
          </a:p>
          <a:p>
            <a:pPr marL="457200" indent="-457200">
              <a:buClr>
                <a:schemeClr val="bg1"/>
              </a:buClr>
              <a:buFont typeface="Wingdings" panose="05000000000000000000" pitchFamily="2" charset="2"/>
              <a:buChar char="q"/>
            </a:pPr>
            <a:r>
              <a:rPr lang="en-IN" sz="2800" b="1" dirty="0">
                <a:solidFill>
                  <a:schemeClr val="bg1"/>
                </a:solidFill>
              </a:rPr>
              <a:t>Security Monitoring </a:t>
            </a:r>
            <a:r>
              <a:rPr lang="en-IN" sz="2800" dirty="0">
                <a:solidFill>
                  <a:schemeClr val="bg1"/>
                </a:solidFill>
              </a:rPr>
              <a:t>— Real-time monitoring &amp; </a:t>
            </a:r>
            <a:r>
              <a:rPr lang="en-IN" sz="2800" dirty="0" err="1">
                <a:solidFill>
                  <a:schemeClr val="bg1"/>
                </a:solidFill>
              </a:rPr>
              <a:t>pentesting</a:t>
            </a:r>
            <a:r>
              <a:rPr lang="en-IN" sz="2800" dirty="0">
                <a:solidFill>
                  <a:schemeClr val="bg1"/>
                </a:solidFill>
              </a:rPr>
              <a:t> </a:t>
            </a:r>
          </a:p>
          <a:p>
            <a:pPr marL="457200" indent="-457200">
              <a:buClr>
                <a:schemeClr val="bg1"/>
              </a:buClr>
              <a:buFont typeface="Wingdings" panose="05000000000000000000" pitchFamily="2" charset="2"/>
              <a:buChar char="q"/>
            </a:pPr>
            <a:r>
              <a:rPr lang="en-IN" sz="2800" b="1" dirty="0">
                <a:solidFill>
                  <a:schemeClr val="bg1"/>
                </a:solidFill>
              </a:rPr>
              <a:t>SIEM Integration </a:t>
            </a:r>
            <a:r>
              <a:rPr lang="en-IN" sz="2800" dirty="0">
                <a:solidFill>
                  <a:schemeClr val="bg1"/>
                </a:solidFill>
              </a:rPr>
              <a:t>— SIEM &amp; audit platforms </a:t>
            </a:r>
          </a:p>
          <a:p>
            <a:pPr marL="457200" indent="-457200">
              <a:buClr>
                <a:schemeClr val="bg1"/>
              </a:buClr>
              <a:buFont typeface="Wingdings" panose="05000000000000000000" pitchFamily="2" charset="2"/>
              <a:buChar char="q"/>
            </a:pPr>
            <a:r>
              <a:rPr lang="en-IN" sz="2800" b="1" dirty="0">
                <a:solidFill>
                  <a:schemeClr val="bg1"/>
                </a:solidFill>
              </a:rPr>
              <a:t>Proprietary AI Model </a:t>
            </a:r>
            <a:r>
              <a:rPr lang="en-IN" sz="2800" dirty="0">
                <a:solidFill>
                  <a:schemeClr val="bg1"/>
                </a:solidFill>
              </a:rPr>
              <a:t>— Foundation model development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5672BDC-7E3C-5F41-5F4D-AC3790A18E72}"/>
              </a:ext>
            </a:extLst>
          </p:cNvPr>
          <p:cNvSpPr txBox="1"/>
          <p:nvPr/>
        </p:nvSpPr>
        <p:spPr>
          <a:xfrm>
            <a:off x="891540" y="987553"/>
            <a:ext cx="16047720" cy="71558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defTabSz="685800">
              <a:buClrTx/>
            </a:pPr>
            <a:r>
              <a:rPr sz="4050" b="1" kern="1200" dirty="0">
                <a:solidFill>
                  <a:srgbClr val="F4F8FC"/>
                </a:solidFill>
                <a:latin typeface="Aptos"/>
                <a:ea typeface="+mn-ea"/>
                <a:cs typeface="+mn-cs"/>
              </a:rPr>
              <a:t>A deliberate prototype boundary</a:t>
            </a:r>
          </a:p>
        </p:txBody>
      </p:sp>
      <p:sp>
        <p:nvSpPr>
          <p:cNvPr id="13" name="Rounded Rectangle 43">
            <a:extLst>
              <a:ext uri="{FF2B5EF4-FFF2-40B4-BE49-F238E27FC236}">
                <a16:creationId xmlns:a16="http://schemas.microsoft.com/office/drawing/2014/main" id="{E7AEBC65-185A-CD15-A590-388D1D93A55F}"/>
              </a:ext>
            </a:extLst>
          </p:cNvPr>
          <p:cNvSpPr/>
          <p:nvPr/>
        </p:nvSpPr>
        <p:spPr>
          <a:xfrm>
            <a:off x="10881360" y="2672526"/>
            <a:ext cx="4114800" cy="493776"/>
          </a:xfrm>
          <a:prstGeom prst="roundRect">
            <a:avLst/>
          </a:prstGeom>
          <a:solidFill>
            <a:srgbClr val="11233D"/>
          </a:solidFill>
          <a:ln w="12700">
            <a:solidFill>
              <a:srgbClr val="2FD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buClrTx/>
            </a:pPr>
            <a:r>
              <a:rPr lang="en-IN" sz="2800" b="1" kern="1200" dirty="0">
                <a:solidFill>
                  <a:srgbClr val="2FDDDC"/>
                </a:solidFill>
                <a:latin typeface="Aptos"/>
              </a:rPr>
              <a:t>Future Enhancements</a:t>
            </a:r>
            <a:endParaRPr sz="2800" b="1" kern="1200" dirty="0">
              <a:solidFill>
                <a:srgbClr val="2FDDDC"/>
              </a:solidFill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40501435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oogle Shape;100;p13">
            <a:extLst>
              <a:ext uri="{FF2B5EF4-FFF2-40B4-BE49-F238E27FC236}">
                <a16:creationId xmlns:a16="http://schemas.microsoft.com/office/drawing/2014/main" id="{A1E5DAE2-E943-BFC1-23D4-94CFF591D8A4}"/>
              </a:ext>
            </a:extLst>
          </p:cNvPr>
          <p:cNvGrpSpPr/>
          <p:nvPr/>
        </p:nvGrpSpPr>
        <p:grpSpPr>
          <a:xfrm>
            <a:off x="364964" y="550694"/>
            <a:ext cx="16173852" cy="9301966"/>
            <a:chOff x="0" y="-47625"/>
            <a:chExt cx="4259780" cy="2215092"/>
          </a:xfrm>
        </p:grpSpPr>
        <p:sp>
          <p:nvSpPr>
            <p:cNvPr id="3" name="Google Shape;101;p13">
              <a:extLst>
                <a:ext uri="{FF2B5EF4-FFF2-40B4-BE49-F238E27FC236}">
                  <a16:creationId xmlns:a16="http://schemas.microsoft.com/office/drawing/2014/main" id="{99165710-E7E3-6247-D1CF-C3DF21FBE30E}"/>
                </a:ext>
              </a:extLst>
            </p:cNvPr>
            <p:cNvSpPr/>
            <p:nvPr/>
          </p:nvSpPr>
          <p:spPr>
            <a:xfrm>
              <a:off x="0" y="0"/>
              <a:ext cx="4259780" cy="2167467"/>
            </a:xfrm>
            <a:custGeom>
              <a:avLst/>
              <a:gdLst/>
              <a:ahLst/>
              <a:cxnLst/>
              <a:rect l="l" t="t" r="r" b="b"/>
              <a:pathLst>
                <a:path w="4259780" h="2167467" extrusionOk="0">
                  <a:moveTo>
                    <a:pt x="0" y="0"/>
                  </a:moveTo>
                  <a:lnTo>
                    <a:pt x="4259780" y="0"/>
                  </a:lnTo>
                  <a:lnTo>
                    <a:pt x="4259780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 cmpd="sng">
              <a:solidFill>
                <a:srgbClr val="71CBEF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Google Shape;102;p13">
              <a:extLst>
                <a:ext uri="{FF2B5EF4-FFF2-40B4-BE49-F238E27FC236}">
                  <a16:creationId xmlns:a16="http://schemas.microsoft.com/office/drawing/2014/main" id="{E2DDDE53-DA90-E272-232C-33DECBED4C88}"/>
                </a:ext>
              </a:extLst>
            </p:cNvPr>
            <p:cNvSpPr txBox="1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9" name="Google Shape;159;p17"/>
          <p:cNvSpPr txBox="1"/>
          <p:nvPr/>
        </p:nvSpPr>
        <p:spPr>
          <a:xfrm>
            <a:off x="364964" y="3739522"/>
            <a:ext cx="10287001" cy="3323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0" dirty="0">
                <a:solidFill>
                  <a:srgbClr val="71CBEF"/>
                </a:solidFill>
                <a:latin typeface="Archivo Black"/>
                <a:ea typeface="Archivo Black"/>
                <a:cs typeface="Archivo Black"/>
                <a:sym typeface="Archivo Black"/>
              </a:rPr>
              <a:t>ARCHITECTURE</a:t>
            </a:r>
          </a:p>
          <a:p>
            <a:pPr marL="0" marR="0" lvl="0" indent="0" algn="just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0" dirty="0">
                <a:solidFill>
                  <a:srgbClr val="71CBEF"/>
                </a:solidFill>
                <a:latin typeface="Archivo Black"/>
                <a:ea typeface="Archivo Black"/>
                <a:cs typeface="Archivo Black"/>
                <a:sym typeface="Archivo Black"/>
              </a:rPr>
              <a:t> </a:t>
            </a:r>
            <a:endParaRPr dirty="0"/>
          </a:p>
        </p:txBody>
      </p:sp>
      <p:sp>
        <p:nvSpPr>
          <p:cNvPr id="162" name="Google Shape;162;p17"/>
          <p:cNvSpPr txBox="1"/>
          <p:nvPr/>
        </p:nvSpPr>
        <p:spPr>
          <a:xfrm>
            <a:off x="-4803673" y="-257754"/>
            <a:ext cx="3086100" cy="32669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ctr" rtl="0">
              <a:lnSpc>
                <a:spcPct val="186611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7"/>
          <p:cNvSpPr/>
          <p:nvPr/>
        </p:nvSpPr>
        <p:spPr>
          <a:xfrm>
            <a:off x="10089422" y="0"/>
            <a:ext cx="8198578" cy="10287000"/>
          </a:xfrm>
          <a:custGeom>
            <a:avLst/>
            <a:gdLst/>
            <a:ahLst/>
            <a:cxnLst/>
            <a:rect l="l" t="t" r="r" b="b"/>
            <a:pathLst>
              <a:path w="8198578" h="10287000" extrusionOk="0">
                <a:moveTo>
                  <a:pt x="0" y="0"/>
                </a:moveTo>
                <a:lnTo>
                  <a:pt x="8198578" y="0"/>
                </a:lnTo>
                <a:lnTo>
                  <a:pt x="8198578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17638" r="-7831"/>
            </a:stretch>
          </a:blipFill>
          <a:ln>
            <a:noFill/>
          </a:ln>
        </p:spPr>
        <p:txBody>
          <a:bodyPr/>
          <a:lstStyle/>
          <a:p>
            <a:endParaRPr lang="en-IN"/>
          </a:p>
        </p:txBody>
      </p:sp>
      <p:grpSp>
        <p:nvGrpSpPr>
          <p:cNvPr id="165" name="Google Shape;165;p17"/>
          <p:cNvGrpSpPr/>
          <p:nvPr/>
        </p:nvGrpSpPr>
        <p:grpSpPr>
          <a:xfrm>
            <a:off x="1462245" y="-180826"/>
            <a:ext cx="3086101" cy="3692058"/>
            <a:chOff x="0" y="-47625"/>
            <a:chExt cx="812800" cy="972394"/>
          </a:xfrm>
        </p:grpSpPr>
        <p:sp>
          <p:nvSpPr>
            <p:cNvPr id="166" name="Google Shape;166;p17"/>
            <p:cNvSpPr/>
            <p:nvPr/>
          </p:nvSpPr>
          <p:spPr>
            <a:xfrm>
              <a:off x="0" y="0"/>
              <a:ext cx="296125" cy="924769"/>
            </a:xfrm>
            <a:custGeom>
              <a:avLst/>
              <a:gdLst/>
              <a:ahLst/>
              <a:cxnLst/>
              <a:rect l="l" t="t" r="r" b="b"/>
              <a:pathLst>
                <a:path w="296125" h="924769" extrusionOk="0">
                  <a:moveTo>
                    <a:pt x="0" y="0"/>
                  </a:moveTo>
                  <a:lnTo>
                    <a:pt x="296125" y="0"/>
                  </a:lnTo>
                  <a:lnTo>
                    <a:pt x="296125" y="924769"/>
                  </a:lnTo>
                  <a:lnTo>
                    <a:pt x="0" y="924769"/>
                  </a:lnTo>
                  <a:close/>
                </a:path>
              </a:pathLst>
            </a:custGeom>
            <a:solidFill>
              <a:srgbClr val="2D5B8F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67" name="Google Shape;167;p17"/>
            <p:cNvSpPr txBox="1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68" name="Google Shape;168;p17"/>
          <p:cNvSpPr txBox="1"/>
          <p:nvPr/>
        </p:nvSpPr>
        <p:spPr>
          <a:xfrm>
            <a:off x="1604058" y="2134590"/>
            <a:ext cx="1445554" cy="13766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0">
                <a:solidFill>
                  <a:srgbClr val="0F1A38"/>
                </a:solidFill>
                <a:latin typeface="Archivo Black"/>
                <a:ea typeface="Archivo Black"/>
                <a:cs typeface="Archivo Black"/>
                <a:sym typeface="Archivo Black"/>
              </a:rPr>
              <a:t>2</a:t>
            </a:r>
            <a:endParaRPr/>
          </a:p>
        </p:txBody>
      </p:sp>
      <p:pic>
        <p:nvPicPr>
          <p:cNvPr id="169" name="Google Shape;169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218126" y="-180826"/>
            <a:ext cx="10287001" cy="10287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6D9BA08-352F-DC89-2701-2B473B6080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100" y="0"/>
            <a:ext cx="1761714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91059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7">
            <a:extLst>
              <a:ext uri="{FF2B5EF4-FFF2-40B4-BE49-F238E27FC236}">
                <a16:creationId xmlns:a16="http://schemas.microsoft.com/office/drawing/2014/main" id="{ACE5C9C7-42BD-54FE-8462-A146848D136D}"/>
              </a:ext>
            </a:extLst>
          </p:cNvPr>
          <p:cNvSpPr/>
          <p:nvPr/>
        </p:nvSpPr>
        <p:spPr>
          <a:xfrm>
            <a:off x="754380" y="1014984"/>
            <a:ext cx="1673352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371600">
              <a:buClrTx/>
            </a:pPr>
            <a:r>
              <a:rPr lang="en-US" sz="4200" b="1" kern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Components</a:t>
            </a:r>
            <a:endParaRPr lang="en-US" sz="4200" kern="1200" dirty="0">
              <a:solidFill>
                <a:prstClr val="black"/>
              </a:solidFill>
              <a:latin typeface="Calibri" panose="020F0502020204030204"/>
              <a:ea typeface="+mn-ea"/>
            </a:endParaRPr>
          </a:p>
        </p:txBody>
      </p:sp>
      <p:sp>
        <p:nvSpPr>
          <p:cNvPr id="14" name="Shape 4">
            <a:extLst>
              <a:ext uri="{FF2B5EF4-FFF2-40B4-BE49-F238E27FC236}">
                <a16:creationId xmlns:a16="http://schemas.microsoft.com/office/drawing/2014/main" id="{92866FA6-D149-183E-F75E-C49F13B4486D}"/>
              </a:ext>
            </a:extLst>
          </p:cNvPr>
          <p:cNvSpPr/>
          <p:nvPr/>
        </p:nvSpPr>
        <p:spPr>
          <a:xfrm>
            <a:off x="15475763" y="2221992"/>
            <a:ext cx="685800" cy="685800"/>
          </a:xfrm>
          <a:prstGeom prst="hexagon">
            <a:avLst/>
          </a:prstGeom>
          <a:ln w="19050">
            <a:solidFill>
              <a:srgbClr val="A5C8FD">
                <a:alpha val="15000"/>
              </a:srgbClr>
            </a:solidFill>
            <a:prstDash val="solid"/>
          </a:ln>
        </p:spPr>
        <p:txBody>
          <a:bodyPr/>
          <a:lstStyle/>
          <a:p>
            <a:pPr defTabSz="1371600">
              <a:buClrTx/>
            </a:pPr>
            <a:endParaRPr lang="en-IN" sz="2700" kern="120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Shape 8">
            <a:extLst>
              <a:ext uri="{FF2B5EF4-FFF2-40B4-BE49-F238E27FC236}">
                <a16:creationId xmlns:a16="http://schemas.microsoft.com/office/drawing/2014/main" id="{32FD78BB-21BB-A52E-6585-D15F5411A7DA}"/>
              </a:ext>
            </a:extLst>
          </p:cNvPr>
          <p:cNvSpPr/>
          <p:nvPr/>
        </p:nvSpPr>
        <p:spPr>
          <a:xfrm>
            <a:off x="754380" y="2263140"/>
            <a:ext cx="5417820" cy="3497580"/>
          </a:xfrm>
          <a:prstGeom prst="roundRect">
            <a:avLst>
              <a:gd name="adj" fmla="val 3529"/>
            </a:avLst>
          </a:prstGeom>
          <a:solidFill>
            <a:srgbClr val="17376B"/>
          </a:solidFill>
          <a:ln w="12700">
            <a:solidFill>
              <a:srgbClr val="2E5EA8"/>
            </a:solidFill>
            <a:prstDash val="solid"/>
          </a:ln>
          <a:effectLst>
            <a:outerShdw blurRad="101600" dist="381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pPr defTabSz="1371600">
              <a:buClrTx/>
            </a:pPr>
            <a:endParaRPr lang="en-IN" sz="2700" kern="120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9">
            <a:extLst>
              <a:ext uri="{FF2B5EF4-FFF2-40B4-BE49-F238E27FC236}">
                <a16:creationId xmlns:a16="http://schemas.microsoft.com/office/drawing/2014/main" id="{3C0A89D1-F98E-3238-2815-46FD8A52C712}"/>
              </a:ext>
            </a:extLst>
          </p:cNvPr>
          <p:cNvSpPr/>
          <p:nvPr/>
        </p:nvSpPr>
        <p:spPr>
          <a:xfrm>
            <a:off x="754380" y="2427732"/>
            <a:ext cx="5033772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defTabSz="1371600">
              <a:buClrTx/>
            </a:pPr>
            <a:r>
              <a:rPr lang="en-US" sz="4500" b="1" kern="1200" dirty="0">
                <a:solidFill>
                  <a:srgbClr val="2E56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45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Shape 10">
            <a:extLst>
              <a:ext uri="{FF2B5EF4-FFF2-40B4-BE49-F238E27FC236}">
                <a16:creationId xmlns:a16="http://schemas.microsoft.com/office/drawing/2014/main" id="{23002331-CBB7-DFD8-3CB0-21E7FFE80B08}"/>
              </a:ext>
            </a:extLst>
          </p:cNvPr>
          <p:cNvSpPr/>
          <p:nvPr/>
        </p:nvSpPr>
        <p:spPr>
          <a:xfrm>
            <a:off x="1110996" y="2619756"/>
            <a:ext cx="795528" cy="795528"/>
          </a:xfrm>
          <a:prstGeom prst="ellipse">
            <a:avLst/>
          </a:prstGeom>
          <a:solidFill>
            <a:srgbClr val="00CCBC"/>
          </a:solidFill>
          <a:ln/>
          <a:effectLst>
            <a:outerShdw blurRad="76200" dist="254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pPr defTabSz="1371600">
              <a:buClrTx/>
            </a:pPr>
            <a:endParaRPr lang="en-IN" sz="2700" kern="120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2" name="Image 0" descr="/home/claude/icons/monitor_white.png">
            <a:extLst>
              <a:ext uri="{FF2B5EF4-FFF2-40B4-BE49-F238E27FC236}">
                <a16:creationId xmlns:a16="http://schemas.microsoft.com/office/drawing/2014/main" id="{2A946589-9718-4419-C956-ADDF03EDDF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5789" y="2834549"/>
            <a:ext cx="365943" cy="365943"/>
          </a:xfrm>
          <a:prstGeom prst="rect">
            <a:avLst/>
          </a:prstGeom>
        </p:spPr>
      </p:pic>
      <p:sp>
        <p:nvSpPr>
          <p:cNvPr id="24" name="Text 11">
            <a:extLst>
              <a:ext uri="{FF2B5EF4-FFF2-40B4-BE49-F238E27FC236}">
                <a16:creationId xmlns:a16="http://schemas.microsoft.com/office/drawing/2014/main" id="{C7844663-B9A0-8D73-FF37-54A06616925F}"/>
              </a:ext>
            </a:extLst>
          </p:cNvPr>
          <p:cNvSpPr/>
          <p:nvPr/>
        </p:nvSpPr>
        <p:spPr>
          <a:xfrm>
            <a:off x="1110996" y="3607308"/>
            <a:ext cx="4704588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1371600">
              <a:buClrTx/>
            </a:pPr>
            <a:r>
              <a:rPr lang="en-US" sz="1950" b="1" kern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Interface</a:t>
            </a:r>
            <a:endParaRPr lang="en-US" sz="195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Text 12">
            <a:extLst>
              <a:ext uri="{FF2B5EF4-FFF2-40B4-BE49-F238E27FC236}">
                <a16:creationId xmlns:a16="http://schemas.microsoft.com/office/drawing/2014/main" id="{74CD4EA8-18B3-B66E-7CF1-7E0377E24AD6}"/>
              </a:ext>
            </a:extLst>
          </p:cNvPr>
          <p:cNvSpPr/>
          <p:nvPr/>
        </p:nvSpPr>
        <p:spPr>
          <a:xfrm>
            <a:off x="1110996" y="4320540"/>
            <a:ext cx="4704588" cy="1275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1371600">
              <a:lnSpc>
                <a:spcPct val="116000"/>
              </a:lnSpc>
              <a:buClrTx/>
            </a:pPr>
            <a:r>
              <a:rPr lang="en-US" sz="1500" kern="1200" dirty="0">
                <a:solidFill>
                  <a:srgbClr val="DCE6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Interactive web interface: pages, forms, tables, charts, and input fields to navigate engagements and checklists.</a:t>
            </a:r>
            <a:endParaRPr lang="en-US" sz="15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Shape 13">
            <a:extLst>
              <a:ext uri="{FF2B5EF4-FFF2-40B4-BE49-F238E27FC236}">
                <a16:creationId xmlns:a16="http://schemas.microsoft.com/office/drawing/2014/main" id="{82CF4238-54C0-A0BE-E724-F3DFB0BEA61A}"/>
              </a:ext>
            </a:extLst>
          </p:cNvPr>
          <p:cNvSpPr/>
          <p:nvPr/>
        </p:nvSpPr>
        <p:spPr>
          <a:xfrm>
            <a:off x="6446520" y="2263140"/>
            <a:ext cx="5417820" cy="3497580"/>
          </a:xfrm>
          <a:prstGeom prst="roundRect">
            <a:avLst>
              <a:gd name="adj" fmla="val 3529"/>
            </a:avLst>
          </a:prstGeom>
          <a:solidFill>
            <a:srgbClr val="17376B"/>
          </a:solidFill>
          <a:ln w="12700">
            <a:solidFill>
              <a:srgbClr val="2E5EA8"/>
            </a:solidFill>
            <a:prstDash val="solid"/>
          </a:ln>
          <a:effectLst>
            <a:outerShdw blurRad="101600" dist="381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pPr defTabSz="1371600">
              <a:buClrTx/>
            </a:pPr>
            <a:endParaRPr lang="en-IN" sz="2700" kern="120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Text 14">
            <a:extLst>
              <a:ext uri="{FF2B5EF4-FFF2-40B4-BE49-F238E27FC236}">
                <a16:creationId xmlns:a16="http://schemas.microsoft.com/office/drawing/2014/main" id="{A6C0151B-A037-B08D-F2CE-1FF1670531BB}"/>
              </a:ext>
            </a:extLst>
          </p:cNvPr>
          <p:cNvSpPr/>
          <p:nvPr/>
        </p:nvSpPr>
        <p:spPr>
          <a:xfrm>
            <a:off x="6446520" y="2427732"/>
            <a:ext cx="5033772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defTabSz="1371600">
              <a:buClrTx/>
            </a:pPr>
            <a:r>
              <a:rPr lang="en-US" sz="4500" b="1" kern="1200" dirty="0">
                <a:solidFill>
                  <a:srgbClr val="2E56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45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Shape 15">
            <a:extLst>
              <a:ext uri="{FF2B5EF4-FFF2-40B4-BE49-F238E27FC236}">
                <a16:creationId xmlns:a16="http://schemas.microsoft.com/office/drawing/2014/main" id="{BE45E68D-4015-7D29-28BD-6EC81E82F404}"/>
              </a:ext>
            </a:extLst>
          </p:cNvPr>
          <p:cNvSpPr/>
          <p:nvPr/>
        </p:nvSpPr>
        <p:spPr>
          <a:xfrm>
            <a:off x="6803136" y="2619756"/>
            <a:ext cx="795528" cy="795528"/>
          </a:xfrm>
          <a:prstGeom prst="ellipse">
            <a:avLst/>
          </a:prstGeom>
          <a:solidFill>
            <a:srgbClr val="3D74C9"/>
          </a:solidFill>
          <a:ln/>
          <a:effectLst>
            <a:outerShdw blurRad="76200" dist="254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pPr defTabSz="1371600">
              <a:buClrTx/>
            </a:pPr>
            <a:endParaRPr lang="en-IN" sz="2700" kern="120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4" name="Image 1" descr="/home/claude/icons/cpu_white.png">
            <a:extLst>
              <a:ext uri="{FF2B5EF4-FFF2-40B4-BE49-F238E27FC236}">
                <a16:creationId xmlns:a16="http://schemas.microsoft.com/office/drawing/2014/main" id="{3B0BD32F-5D65-77E8-B344-627CF6DC0D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17929" y="2834549"/>
            <a:ext cx="365943" cy="365943"/>
          </a:xfrm>
          <a:prstGeom prst="rect">
            <a:avLst/>
          </a:prstGeom>
        </p:spPr>
      </p:pic>
      <p:sp>
        <p:nvSpPr>
          <p:cNvPr id="36" name="Text 16">
            <a:extLst>
              <a:ext uri="{FF2B5EF4-FFF2-40B4-BE49-F238E27FC236}">
                <a16:creationId xmlns:a16="http://schemas.microsoft.com/office/drawing/2014/main" id="{13EC744C-8892-E39F-17F6-2576B2564CD8}"/>
              </a:ext>
            </a:extLst>
          </p:cNvPr>
          <p:cNvSpPr/>
          <p:nvPr/>
        </p:nvSpPr>
        <p:spPr>
          <a:xfrm>
            <a:off x="6803136" y="3607308"/>
            <a:ext cx="4704588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1371600">
              <a:buClrTx/>
            </a:pPr>
            <a:r>
              <a:rPr lang="en-US" sz="1950" b="1" kern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Application (Python)</a:t>
            </a:r>
            <a:endParaRPr lang="en-US" sz="195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Text 17">
            <a:extLst>
              <a:ext uri="{FF2B5EF4-FFF2-40B4-BE49-F238E27FC236}">
                <a16:creationId xmlns:a16="http://schemas.microsoft.com/office/drawing/2014/main" id="{130EA1EC-1A5C-6839-F504-E95349AC0C17}"/>
              </a:ext>
            </a:extLst>
          </p:cNvPr>
          <p:cNvSpPr/>
          <p:nvPr/>
        </p:nvSpPr>
        <p:spPr>
          <a:xfrm>
            <a:off x="6803136" y="4320540"/>
            <a:ext cx="4704588" cy="1275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1371600">
              <a:lnSpc>
                <a:spcPct val="116000"/>
              </a:lnSpc>
              <a:buClrTx/>
            </a:pPr>
            <a:r>
              <a:rPr lang="en-US" sz="1500" kern="1200" dirty="0">
                <a:solidFill>
                  <a:srgbClr val="DCE6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 application logic covering engagement, checklist, assessment, status, evidence/comments, dashboard, and reports.</a:t>
            </a:r>
            <a:endParaRPr lang="en-US" sz="15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" name="Shape 18">
            <a:extLst>
              <a:ext uri="{FF2B5EF4-FFF2-40B4-BE49-F238E27FC236}">
                <a16:creationId xmlns:a16="http://schemas.microsoft.com/office/drawing/2014/main" id="{2BF26ED2-5F88-9C81-046C-11C1C5CF8D3F}"/>
              </a:ext>
            </a:extLst>
          </p:cNvPr>
          <p:cNvSpPr/>
          <p:nvPr/>
        </p:nvSpPr>
        <p:spPr>
          <a:xfrm>
            <a:off x="12138660" y="2263140"/>
            <a:ext cx="5417820" cy="3497580"/>
          </a:xfrm>
          <a:prstGeom prst="roundRect">
            <a:avLst>
              <a:gd name="adj" fmla="val 3529"/>
            </a:avLst>
          </a:prstGeom>
          <a:solidFill>
            <a:srgbClr val="17376B"/>
          </a:solidFill>
          <a:ln w="12700">
            <a:solidFill>
              <a:srgbClr val="2E5EA8"/>
            </a:solidFill>
            <a:prstDash val="solid"/>
          </a:ln>
          <a:effectLst>
            <a:outerShdw blurRad="101600" dist="381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pPr defTabSz="1371600">
              <a:buClrTx/>
            </a:pPr>
            <a:endParaRPr lang="en-IN" sz="2700" kern="120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2" name="Text 19">
            <a:extLst>
              <a:ext uri="{FF2B5EF4-FFF2-40B4-BE49-F238E27FC236}">
                <a16:creationId xmlns:a16="http://schemas.microsoft.com/office/drawing/2014/main" id="{0B682E03-5144-E620-F667-38F00B1DA2B1}"/>
              </a:ext>
            </a:extLst>
          </p:cNvPr>
          <p:cNvSpPr/>
          <p:nvPr/>
        </p:nvSpPr>
        <p:spPr>
          <a:xfrm>
            <a:off x="12138660" y="2427732"/>
            <a:ext cx="5033772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defTabSz="1371600">
              <a:buClrTx/>
            </a:pPr>
            <a:r>
              <a:rPr lang="en-US" sz="4500" b="1" kern="1200" dirty="0">
                <a:solidFill>
                  <a:srgbClr val="2E56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45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4" name="Shape 20">
            <a:extLst>
              <a:ext uri="{FF2B5EF4-FFF2-40B4-BE49-F238E27FC236}">
                <a16:creationId xmlns:a16="http://schemas.microsoft.com/office/drawing/2014/main" id="{32BA8BFB-36FD-7FFB-2864-38B699074D76}"/>
              </a:ext>
            </a:extLst>
          </p:cNvPr>
          <p:cNvSpPr/>
          <p:nvPr/>
        </p:nvSpPr>
        <p:spPr>
          <a:xfrm>
            <a:off x="12495276" y="2619756"/>
            <a:ext cx="795528" cy="795528"/>
          </a:xfrm>
          <a:prstGeom prst="ellipse">
            <a:avLst/>
          </a:prstGeom>
          <a:solidFill>
            <a:srgbClr val="00CCBC"/>
          </a:solidFill>
          <a:ln/>
          <a:effectLst>
            <a:outerShdw blurRad="76200" dist="254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pPr defTabSz="1371600">
              <a:buClrTx/>
            </a:pPr>
            <a:endParaRPr lang="en-IN" sz="2700" kern="120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6" name="Image 2" descr="/home/claude/icons/brain_white.png">
            <a:extLst>
              <a:ext uri="{FF2B5EF4-FFF2-40B4-BE49-F238E27FC236}">
                <a16:creationId xmlns:a16="http://schemas.microsoft.com/office/drawing/2014/main" id="{E0FFF62F-B8E6-3A08-8DE2-17F63ED7DE3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10069" y="2834549"/>
            <a:ext cx="365943" cy="365943"/>
          </a:xfrm>
          <a:prstGeom prst="rect">
            <a:avLst/>
          </a:prstGeom>
        </p:spPr>
      </p:pic>
      <p:sp>
        <p:nvSpPr>
          <p:cNvPr id="48" name="Text 21">
            <a:extLst>
              <a:ext uri="{FF2B5EF4-FFF2-40B4-BE49-F238E27FC236}">
                <a16:creationId xmlns:a16="http://schemas.microsoft.com/office/drawing/2014/main" id="{8C3D7BE6-44A3-73B0-521C-DD130B32B6BC}"/>
              </a:ext>
            </a:extLst>
          </p:cNvPr>
          <p:cNvSpPr/>
          <p:nvPr/>
        </p:nvSpPr>
        <p:spPr>
          <a:xfrm>
            <a:off x="12495276" y="3607308"/>
            <a:ext cx="4704588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1371600">
              <a:buClrTx/>
            </a:pPr>
            <a:r>
              <a:rPr lang="en-US" sz="1950" b="1" kern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Module</a:t>
            </a:r>
            <a:endParaRPr lang="en-US" sz="195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0" name="Text 22">
            <a:extLst>
              <a:ext uri="{FF2B5EF4-FFF2-40B4-BE49-F238E27FC236}">
                <a16:creationId xmlns:a16="http://schemas.microsoft.com/office/drawing/2014/main" id="{B30D828A-286E-8B00-6C8B-DF05B139AF3C}"/>
              </a:ext>
            </a:extLst>
          </p:cNvPr>
          <p:cNvSpPr/>
          <p:nvPr/>
        </p:nvSpPr>
        <p:spPr>
          <a:xfrm>
            <a:off x="12495276" y="4320540"/>
            <a:ext cx="4704588" cy="1275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1371600">
              <a:lnSpc>
                <a:spcPct val="116000"/>
              </a:lnSpc>
              <a:buClrTx/>
            </a:pPr>
            <a:r>
              <a:rPr lang="en-US" sz="1500" kern="1200" dirty="0">
                <a:solidFill>
                  <a:srgbClr val="DCE6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Generates a draft checklist for a technology not already in the library, using a pre-trained LLM (e.g., Qwen via Hugging Face). Output is always a draft.</a:t>
            </a:r>
            <a:endParaRPr lang="en-US" sz="15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2" name="Shape 23">
            <a:extLst>
              <a:ext uri="{FF2B5EF4-FFF2-40B4-BE49-F238E27FC236}">
                <a16:creationId xmlns:a16="http://schemas.microsoft.com/office/drawing/2014/main" id="{7B51AD6B-22CE-FF41-E3EE-0E58F1B814D4}"/>
              </a:ext>
            </a:extLst>
          </p:cNvPr>
          <p:cNvSpPr/>
          <p:nvPr/>
        </p:nvSpPr>
        <p:spPr>
          <a:xfrm>
            <a:off x="754380" y="5966460"/>
            <a:ext cx="5417820" cy="3497580"/>
          </a:xfrm>
          <a:prstGeom prst="roundRect">
            <a:avLst>
              <a:gd name="adj" fmla="val 3529"/>
            </a:avLst>
          </a:prstGeom>
          <a:solidFill>
            <a:srgbClr val="17376B"/>
          </a:solidFill>
          <a:ln w="12700">
            <a:solidFill>
              <a:srgbClr val="2E5EA8"/>
            </a:solidFill>
            <a:prstDash val="solid"/>
          </a:ln>
          <a:effectLst>
            <a:outerShdw blurRad="101600" dist="381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pPr defTabSz="1371600">
              <a:buClrTx/>
            </a:pPr>
            <a:endParaRPr lang="en-IN" sz="2700" kern="120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4" name="Text 24">
            <a:extLst>
              <a:ext uri="{FF2B5EF4-FFF2-40B4-BE49-F238E27FC236}">
                <a16:creationId xmlns:a16="http://schemas.microsoft.com/office/drawing/2014/main" id="{B4113B7A-FB85-D50C-A7EF-656872B72075}"/>
              </a:ext>
            </a:extLst>
          </p:cNvPr>
          <p:cNvSpPr/>
          <p:nvPr/>
        </p:nvSpPr>
        <p:spPr>
          <a:xfrm>
            <a:off x="754380" y="6131052"/>
            <a:ext cx="5033772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defTabSz="1371600">
              <a:buClrTx/>
            </a:pPr>
            <a:r>
              <a:rPr lang="en-US" sz="4500" b="1" kern="1200" dirty="0">
                <a:solidFill>
                  <a:srgbClr val="2E56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45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6" name="Shape 25">
            <a:extLst>
              <a:ext uri="{FF2B5EF4-FFF2-40B4-BE49-F238E27FC236}">
                <a16:creationId xmlns:a16="http://schemas.microsoft.com/office/drawing/2014/main" id="{F4ADFE0A-E16D-1D4B-6293-A17A48380E84}"/>
              </a:ext>
            </a:extLst>
          </p:cNvPr>
          <p:cNvSpPr/>
          <p:nvPr/>
        </p:nvSpPr>
        <p:spPr>
          <a:xfrm>
            <a:off x="1110996" y="6323076"/>
            <a:ext cx="795528" cy="795528"/>
          </a:xfrm>
          <a:prstGeom prst="ellipse">
            <a:avLst/>
          </a:prstGeom>
          <a:solidFill>
            <a:srgbClr val="3D74C9"/>
          </a:solidFill>
          <a:ln/>
          <a:effectLst>
            <a:outerShdw blurRad="76200" dist="254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pPr defTabSz="1371600">
              <a:buClrTx/>
            </a:pPr>
            <a:endParaRPr lang="en-IN" sz="2700" kern="120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8" name="Image 3" descr="/home/claude/icons/database_white.png">
            <a:extLst>
              <a:ext uri="{FF2B5EF4-FFF2-40B4-BE49-F238E27FC236}">
                <a16:creationId xmlns:a16="http://schemas.microsoft.com/office/drawing/2014/main" id="{AD46828D-B539-A262-4DCF-AC36E161210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25789" y="6537869"/>
            <a:ext cx="365943" cy="365943"/>
          </a:xfrm>
          <a:prstGeom prst="rect">
            <a:avLst/>
          </a:prstGeom>
        </p:spPr>
      </p:pic>
      <p:sp>
        <p:nvSpPr>
          <p:cNvPr id="60" name="Text 26">
            <a:extLst>
              <a:ext uri="{FF2B5EF4-FFF2-40B4-BE49-F238E27FC236}">
                <a16:creationId xmlns:a16="http://schemas.microsoft.com/office/drawing/2014/main" id="{C66DD79C-356F-27CF-36E4-FD71B9C42F3E}"/>
              </a:ext>
            </a:extLst>
          </p:cNvPr>
          <p:cNvSpPr/>
          <p:nvPr/>
        </p:nvSpPr>
        <p:spPr>
          <a:xfrm>
            <a:off x="1110996" y="7310628"/>
            <a:ext cx="4704588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1371600">
              <a:buClrTx/>
            </a:pPr>
            <a:r>
              <a:rPr lang="en-US" sz="1950" b="1" kern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Management Module</a:t>
            </a:r>
            <a:endParaRPr lang="en-US" sz="195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2" name="Text 27">
            <a:extLst>
              <a:ext uri="{FF2B5EF4-FFF2-40B4-BE49-F238E27FC236}">
                <a16:creationId xmlns:a16="http://schemas.microsoft.com/office/drawing/2014/main" id="{7E0ABCE9-20DD-2944-7BCB-BF8B03ABD90B}"/>
              </a:ext>
            </a:extLst>
          </p:cNvPr>
          <p:cNvSpPr/>
          <p:nvPr/>
        </p:nvSpPr>
        <p:spPr>
          <a:xfrm>
            <a:off x="1110996" y="8023860"/>
            <a:ext cx="4704588" cy="1275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1371600">
              <a:lnSpc>
                <a:spcPct val="116000"/>
              </a:lnSpc>
              <a:buClrTx/>
            </a:pPr>
            <a:r>
              <a:rPr lang="en-US" sz="1500" kern="1200" dirty="0">
                <a:solidFill>
                  <a:srgbClr val="DCE6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Stores and retrieves the checklist library, assessment data, and engagement data — currently implemented using CSV files.</a:t>
            </a:r>
            <a:endParaRPr lang="en-US" sz="15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4" name="Shape 28">
            <a:extLst>
              <a:ext uri="{FF2B5EF4-FFF2-40B4-BE49-F238E27FC236}">
                <a16:creationId xmlns:a16="http://schemas.microsoft.com/office/drawing/2014/main" id="{9A0DB46B-949A-8840-F759-293377FA4A62}"/>
              </a:ext>
            </a:extLst>
          </p:cNvPr>
          <p:cNvSpPr/>
          <p:nvPr/>
        </p:nvSpPr>
        <p:spPr>
          <a:xfrm>
            <a:off x="6446520" y="5966460"/>
            <a:ext cx="5417820" cy="3497580"/>
          </a:xfrm>
          <a:prstGeom prst="roundRect">
            <a:avLst>
              <a:gd name="adj" fmla="val 3529"/>
            </a:avLst>
          </a:prstGeom>
          <a:solidFill>
            <a:srgbClr val="17376B"/>
          </a:solidFill>
          <a:ln w="12700">
            <a:solidFill>
              <a:srgbClr val="2E5EA8"/>
            </a:solidFill>
            <a:prstDash val="solid"/>
          </a:ln>
          <a:effectLst>
            <a:outerShdw blurRad="101600" dist="381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pPr defTabSz="1371600">
              <a:buClrTx/>
            </a:pPr>
            <a:endParaRPr lang="en-IN" sz="2700" kern="120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6" name="Text 29">
            <a:extLst>
              <a:ext uri="{FF2B5EF4-FFF2-40B4-BE49-F238E27FC236}">
                <a16:creationId xmlns:a16="http://schemas.microsoft.com/office/drawing/2014/main" id="{57C10129-26F3-8F03-D385-75FE5EF744A0}"/>
              </a:ext>
            </a:extLst>
          </p:cNvPr>
          <p:cNvSpPr/>
          <p:nvPr/>
        </p:nvSpPr>
        <p:spPr>
          <a:xfrm>
            <a:off x="6446520" y="6131052"/>
            <a:ext cx="5033772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defTabSz="1371600">
              <a:buClrTx/>
            </a:pPr>
            <a:r>
              <a:rPr lang="en-US" sz="4500" b="1" kern="1200" dirty="0">
                <a:solidFill>
                  <a:srgbClr val="2E56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45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8" name="Shape 30">
            <a:extLst>
              <a:ext uri="{FF2B5EF4-FFF2-40B4-BE49-F238E27FC236}">
                <a16:creationId xmlns:a16="http://schemas.microsoft.com/office/drawing/2014/main" id="{0EA16FC6-447D-E025-D59F-519049E4DFCE}"/>
              </a:ext>
            </a:extLst>
          </p:cNvPr>
          <p:cNvSpPr/>
          <p:nvPr/>
        </p:nvSpPr>
        <p:spPr>
          <a:xfrm>
            <a:off x="6803136" y="6323076"/>
            <a:ext cx="795528" cy="795528"/>
          </a:xfrm>
          <a:prstGeom prst="ellipse">
            <a:avLst/>
          </a:prstGeom>
          <a:solidFill>
            <a:srgbClr val="00CCBC"/>
          </a:solidFill>
          <a:ln/>
          <a:effectLst>
            <a:outerShdw blurRad="76200" dist="254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pPr defTabSz="1371600">
              <a:buClrTx/>
            </a:pPr>
            <a:endParaRPr lang="en-IN" sz="2700" kern="120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0" name="Image 4" descr="/home/claude/icons/usercheck_white.png">
            <a:extLst>
              <a:ext uri="{FF2B5EF4-FFF2-40B4-BE49-F238E27FC236}">
                <a16:creationId xmlns:a16="http://schemas.microsoft.com/office/drawing/2014/main" id="{D2918B13-2FF0-60A4-06F7-17800D0D01D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17929" y="6537869"/>
            <a:ext cx="365943" cy="365943"/>
          </a:xfrm>
          <a:prstGeom prst="rect">
            <a:avLst/>
          </a:prstGeom>
        </p:spPr>
      </p:pic>
      <p:sp>
        <p:nvSpPr>
          <p:cNvPr id="72" name="Text 31">
            <a:extLst>
              <a:ext uri="{FF2B5EF4-FFF2-40B4-BE49-F238E27FC236}">
                <a16:creationId xmlns:a16="http://schemas.microsoft.com/office/drawing/2014/main" id="{9534045C-EA07-9EBD-72A7-449B1961F8E7}"/>
              </a:ext>
            </a:extLst>
          </p:cNvPr>
          <p:cNvSpPr/>
          <p:nvPr/>
        </p:nvSpPr>
        <p:spPr>
          <a:xfrm>
            <a:off x="6803136" y="7310628"/>
            <a:ext cx="4704588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1371600">
              <a:buClrTx/>
            </a:pPr>
            <a:r>
              <a:rPr lang="en-US" sz="1950" b="1" kern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Review (Human-in-the-Loop)</a:t>
            </a:r>
            <a:endParaRPr lang="en-US" sz="195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4" name="Text 32">
            <a:extLst>
              <a:ext uri="{FF2B5EF4-FFF2-40B4-BE49-F238E27FC236}">
                <a16:creationId xmlns:a16="http://schemas.microsoft.com/office/drawing/2014/main" id="{807DEF0C-DDA6-F630-E743-4F5B9DD00831}"/>
              </a:ext>
            </a:extLst>
          </p:cNvPr>
          <p:cNvSpPr/>
          <p:nvPr/>
        </p:nvSpPr>
        <p:spPr>
          <a:xfrm>
            <a:off x="6803136" y="8023860"/>
            <a:ext cx="4704588" cy="1275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1371600">
              <a:lnSpc>
                <a:spcPct val="116000"/>
              </a:lnSpc>
              <a:buClrTx/>
            </a:pPr>
            <a:r>
              <a:rPr lang="en-US" sz="1500" kern="1200" dirty="0">
                <a:solidFill>
                  <a:srgbClr val="DCE6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human reviewer checks and edits AI-generated checklists, then approves or rejects them before finalisation.</a:t>
            </a:r>
            <a:endParaRPr lang="en-US" sz="15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6" name="Shape 33">
            <a:extLst>
              <a:ext uri="{FF2B5EF4-FFF2-40B4-BE49-F238E27FC236}">
                <a16:creationId xmlns:a16="http://schemas.microsoft.com/office/drawing/2014/main" id="{673AE562-40B7-E141-2D9C-F723A9D51642}"/>
              </a:ext>
            </a:extLst>
          </p:cNvPr>
          <p:cNvSpPr/>
          <p:nvPr/>
        </p:nvSpPr>
        <p:spPr>
          <a:xfrm>
            <a:off x="12138660" y="5966460"/>
            <a:ext cx="5417820" cy="3497580"/>
          </a:xfrm>
          <a:prstGeom prst="roundRect">
            <a:avLst>
              <a:gd name="adj" fmla="val 3529"/>
            </a:avLst>
          </a:prstGeom>
          <a:solidFill>
            <a:srgbClr val="17376B"/>
          </a:solidFill>
          <a:ln w="12700">
            <a:solidFill>
              <a:srgbClr val="2E5EA8"/>
            </a:solidFill>
            <a:prstDash val="solid"/>
          </a:ln>
          <a:effectLst>
            <a:outerShdw blurRad="101600" dist="381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pPr defTabSz="1371600">
              <a:buClrTx/>
            </a:pPr>
            <a:endParaRPr lang="en-IN" sz="2700" kern="120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8" name="Text 34">
            <a:extLst>
              <a:ext uri="{FF2B5EF4-FFF2-40B4-BE49-F238E27FC236}">
                <a16:creationId xmlns:a16="http://schemas.microsoft.com/office/drawing/2014/main" id="{A89E138A-E887-F500-BF29-2B22015C51EE}"/>
              </a:ext>
            </a:extLst>
          </p:cNvPr>
          <p:cNvSpPr/>
          <p:nvPr/>
        </p:nvSpPr>
        <p:spPr>
          <a:xfrm>
            <a:off x="12138660" y="6131052"/>
            <a:ext cx="5033772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defTabSz="1371600">
              <a:buClrTx/>
            </a:pPr>
            <a:r>
              <a:rPr lang="en-US" sz="4500" b="1" kern="1200" dirty="0">
                <a:solidFill>
                  <a:srgbClr val="2E56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45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0" name="Shape 35">
            <a:extLst>
              <a:ext uri="{FF2B5EF4-FFF2-40B4-BE49-F238E27FC236}">
                <a16:creationId xmlns:a16="http://schemas.microsoft.com/office/drawing/2014/main" id="{7B4B131A-06F6-43AB-6751-CDBE2090BAE2}"/>
              </a:ext>
            </a:extLst>
          </p:cNvPr>
          <p:cNvSpPr/>
          <p:nvPr/>
        </p:nvSpPr>
        <p:spPr>
          <a:xfrm>
            <a:off x="12495276" y="6323076"/>
            <a:ext cx="795528" cy="795528"/>
          </a:xfrm>
          <a:prstGeom prst="ellipse">
            <a:avLst/>
          </a:prstGeom>
          <a:solidFill>
            <a:srgbClr val="3D74C9"/>
          </a:solidFill>
          <a:ln/>
          <a:effectLst>
            <a:outerShdw blurRad="76200" dist="254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pPr defTabSz="1371600">
              <a:buClrTx/>
            </a:pPr>
            <a:endParaRPr lang="en-IN" sz="2700" kern="120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82" name="Image 5" descr="/home/claude/icons/chartbar_white.png">
            <a:extLst>
              <a:ext uri="{FF2B5EF4-FFF2-40B4-BE49-F238E27FC236}">
                <a16:creationId xmlns:a16="http://schemas.microsoft.com/office/drawing/2014/main" id="{0FA0F1DC-86B7-9020-ECF8-A0CD2FFCBE9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10069" y="6537869"/>
            <a:ext cx="365943" cy="365943"/>
          </a:xfrm>
          <a:prstGeom prst="rect">
            <a:avLst/>
          </a:prstGeom>
        </p:spPr>
      </p:pic>
      <p:sp>
        <p:nvSpPr>
          <p:cNvPr id="84" name="Text 36">
            <a:extLst>
              <a:ext uri="{FF2B5EF4-FFF2-40B4-BE49-F238E27FC236}">
                <a16:creationId xmlns:a16="http://schemas.microsoft.com/office/drawing/2014/main" id="{F9067A0A-8910-0ECE-BE7A-9D253DCF380B}"/>
              </a:ext>
            </a:extLst>
          </p:cNvPr>
          <p:cNvSpPr/>
          <p:nvPr/>
        </p:nvSpPr>
        <p:spPr>
          <a:xfrm>
            <a:off x="12495276" y="7310628"/>
            <a:ext cx="4704588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1371600">
              <a:buClrTx/>
            </a:pPr>
            <a:r>
              <a:rPr lang="en-US" sz="1950" b="1" kern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Layer</a:t>
            </a:r>
            <a:endParaRPr lang="en-US" sz="195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6" name="Text 37">
            <a:extLst>
              <a:ext uri="{FF2B5EF4-FFF2-40B4-BE49-F238E27FC236}">
                <a16:creationId xmlns:a16="http://schemas.microsoft.com/office/drawing/2014/main" id="{63CC75DA-0A68-4FB7-251B-41825DD80039}"/>
              </a:ext>
            </a:extLst>
          </p:cNvPr>
          <p:cNvSpPr/>
          <p:nvPr/>
        </p:nvSpPr>
        <p:spPr>
          <a:xfrm>
            <a:off x="12495276" y="8023860"/>
            <a:ext cx="4704588" cy="1275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1371600">
              <a:lnSpc>
                <a:spcPct val="116000"/>
              </a:lnSpc>
              <a:buClrTx/>
            </a:pPr>
            <a:r>
              <a:rPr lang="en-US" sz="1500" kern="1200" dirty="0">
                <a:solidFill>
                  <a:srgbClr val="DCE6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Presents the compliance dashboard (charts and KPIs), assessment results, and generates the final checklists report in DOCX/exportable format.</a:t>
            </a:r>
            <a:endParaRPr lang="en-US" sz="15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514441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4">
            <a:extLst>
              <a:ext uri="{FF2B5EF4-FFF2-40B4-BE49-F238E27FC236}">
                <a16:creationId xmlns:a16="http://schemas.microsoft.com/office/drawing/2014/main" id="{A4C7BFC8-D15B-B781-EB1C-950C4909E768}"/>
              </a:ext>
            </a:extLst>
          </p:cNvPr>
          <p:cNvSpPr/>
          <p:nvPr/>
        </p:nvSpPr>
        <p:spPr>
          <a:xfrm>
            <a:off x="15475763" y="2221992"/>
            <a:ext cx="685800" cy="685800"/>
          </a:xfrm>
          <a:prstGeom prst="hexagon">
            <a:avLst/>
          </a:prstGeom>
          <a:ln w="19050">
            <a:solidFill>
              <a:srgbClr val="A5C8FD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IN" sz="2000"/>
          </a:p>
        </p:txBody>
      </p:sp>
      <p:sp>
        <p:nvSpPr>
          <p:cNvPr id="7" name="Shape 8">
            <a:extLst>
              <a:ext uri="{FF2B5EF4-FFF2-40B4-BE49-F238E27FC236}">
                <a16:creationId xmlns:a16="http://schemas.microsoft.com/office/drawing/2014/main" id="{65E16600-1C8D-7097-9A87-E999790D0528}"/>
              </a:ext>
            </a:extLst>
          </p:cNvPr>
          <p:cNvSpPr/>
          <p:nvPr/>
        </p:nvSpPr>
        <p:spPr>
          <a:xfrm>
            <a:off x="754380" y="1988820"/>
            <a:ext cx="7886700" cy="7713250"/>
          </a:xfrm>
          <a:prstGeom prst="roundRect">
            <a:avLst>
              <a:gd name="adj" fmla="val 1748"/>
            </a:avLst>
          </a:prstGeom>
          <a:solidFill>
            <a:srgbClr val="17376B"/>
          </a:solidFill>
          <a:ln w="12700">
            <a:solidFill>
              <a:srgbClr val="2E5EA8"/>
            </a:solidFill>
            <a:prstDash val="solid"/>
          </a:ln>
          <a:effectLst>
            <a:outerShdw blurRad="101600" dist="381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 sz="2100"/>
          </a:p>
        </p:txBody>
      </p:sp>
      <p:sp>
        <p:nvSpPr>
          <p:cNvPr id="9" name="Shape 9">
            <a:extLst>
              <a:ext uri="{FF2B5EF4-FFF2-40B4-BE49-F238E27FC236}">
                <a16:creationId xmlns:a16="http://schemas.microsoft.com/office/drawing/2014/main" id="{83C91B41-9714-CCD2-14D7-3C0275744759}"/>
              </a:ext>
            </a:extLst>
          </p:cNvPr>
          <p:cNvSpPr/>
          <p:nvPr/>
        </p:nvSpPr>
        <p:spPr>
          <a:xfrm>
            <a:off x="1138428" y="2626614"/>
            <a:ext cx="685800" cy="685800"/>
          </a:xfrm>
          <a:prstGeom prst="ellipse">
            <a:avLst/>
          </a:prstGeom>
          <a:solidFill>
            <a:srgbClr val="00CCBC"/>
          </a:solidFill>
          <a:ln/>
        </p:spPr>
        <p:txBody>
          <a:bodyPr/>
          <a:lstStyle/>
          <a:p>
            <a:endParaRPr lang="en-IN" sz="2000"/>
          </a:p>
        </p:txBody>
      </p:sp>
      <p:sp>
        <p:nvSpPr>
          <p:cNvPr id="11" name="Text 10">
            <a:extLst>
              <a:ext uri="{FF2B5EF4-FFF2-40B4-BE49-F238E27FC236}">
                <a16:creationId xmlns:a16="http://schemas.microsoft.com/office/drawing/2014/main" id="{54351809-2683-34EE-FDBD-B5D4407A4B93}"/>
              </a:ext>
            </a:extLst>
          </p:cNvPr>
          <p:cNvSpPr/>
          <p:nvPr/>
        </p:nvSpPr>
        <p:spPr>
          <a:xfrm>
            <a:off x="1138428" y="2626614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000" b="1" dirty="0">
                <a:solidFill>
                  <a:srgbClr val="0F2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1AFC95BB-16CC-08D0-2B00-0D0788433EEA}"/>
              </a:ext>
            </a:extLst>
          </p:cNvPr>
          <p:cNvSpPr/>
          <p:nvPr/>
        </p:nvSpPr>
        <p:spPr>
          <a:xfrm>
            <a:off x="2098548" y="2372868"/>
            <a:ext cx="6158484" cy="11932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4000"/>
              </a:lnSpc>
            </a:pPr>
            <a:r>
              <a:rPr lang="en-US" sz="2000" dirty="0">
                <a:solidFill>
                  <a:srgbClr val="DCE6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authentication Sentinel GRC through the web interface and creates a new engagement.</a:t>
            </a:r>
            <a:endParaRPr lang="en-US" sz="2000" dirty="0"/>
          </a:p>
        </p:txBody>
      </p:sp>
      <p:sp>
        <p:nvSpPr>
          <p:cNvPr id="15" name="Shape 12">
            <a:extLst>
              <a:ext uri="{FF2B5EF4-FFF2-40B4-BE49-F238E27FC236}">
                <a16:creationId xmlns:a16="http://schemas.microsoft.com/office/drawing/2014/main" id="{9A3ECD5F-3BFF-1183-8683-3F48E1BFC696}"/>
              </a:ext>
            </a:extLst>
          </p:cNvPr>
          <p:cNvSpPr/>
          <p:nvPr/>
        </p:nvSpPr>
        <p:spPr>
          <a:xfrm>
            <a:off x="1481328" y="3593592"/>
            <a:ext cx="0" cy="82296"/>
          </a:xfrm>
          <a:prstGeom prst="line">
            <a:avLst/>
          </a:prstGeom>
          <a:noFill/>
          <a:ln w="12700">
            <a:solidFill>
              <a:srgbClr val="2E5EA8"/>
            </a:solidFill>
            <a:prstDash val="solid"/>
          </a:ln>
        </p:spPr>
        <p:txBody>
          <a:bodyPr/>
          <a:lstStyle/>
          <a:p>
            <a:endParaRPr lang="en-IN" sz="2000"/>
          </a:p>
        </p:txBody>
      </p:sp>
      <p:sp>
        <p:nvSpPr>
          <p:cNvPr id="17" name="Shape 13">
            <a:extLst>
              <a:ext uri="{FF2B5EF4-FFF2-40B4-BE49-F238E27FC236}">
                <a16:creationId xmlns:a16="http://schemas.microsoft.com/office/drawing/2014/main" id="{56A86B2D-BAC5-0035-5D5D-E2491131C430}"/>
              </a:ext>
            </a:extLst>
          </p:cNvPr>
          <p:cNvSpPr/>
          <p:nvPr/>
        </p:nvSpPr>
        <p:spPr>
          <a:xfrm>
            <a:off x="1138428" y="4039362"/>
            <a:ext cx="685800" cy="685800"/>
          </a:xfrm>
          <a:prstGeom prst="ellipse">
            <a:avLst/>
          </a:prstGeom>
          <a:solidFill>
            <a:srgbClr val="00CCBC"/>
          </a:solidFill>
          <a:ln/>
        </p:spPr>
        <p:txBody>
          <a:bodyPr/>
          <a:lstStyle/>
          <a:p>
            <a:endParaRPr lang="en-IN" sz="2000"/>
          </a:p>
        </p:txBody>
      </p:sp>
      <p:sp>
        <p:nvSpPr>
          <p:cNvPr id="19" name="Text 14">
            <a:extLst>
              <a:ext uri="{FF2B5EF4-FFF2-40B4-BE49-F238E27FC236}">
                <a16:creationId xmlns:a16="http://schemas.microsoft.com/office/drawing/2014/main" id="{B72D2BD9-6D7A-21D8-71EB-CC9FFD8EB58C}"/>
              </a:ext>
            </a:extLst>
          </p:cNvPr>
          <p:cNvSpPr/>
          <p:nvPr/>
        </p:nvSpPr>
        <p:spPr>
          <a:xfrm>
            <a:off x="1138428" y="4039362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000" b="1" dirty="0">
                <a:solidFill>
                  <a:srgbClr val="0F2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21" name="Text 15">
            <a:extLst>
              <a:ext uri="{FF2B5EF4-FFF2-40B4-BE49-F238E27FC236}">
                <a16:creationId xmlns:a16="http://schemas.microsoft.com/office/drawing/2014/main" id="{274AB880-4D98-5683-D0DB-67C8BEE87334}"/>
              </a:ext>
            </a:extLst>
          </p:cNvPr>
          <p:cNvSpPr/>
          <p:nvPr/>
        </p:nvSpPr>
        <p:spPr>
          <a:xfrm>
            <a:off x="2098548" y="3785616"/>
            <a:ext cx="6158484" cy="11932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4000"/>
              </a:lnSpc>
            </a:pPr>
            <a:r>
              <a:rPr lang="en-US" sz="2000" dirty="0">
                <a:solidFill>
                  <a:srgbClr val="DCE6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selects the target platform/technology to be assessed.</a:t>
            </a:r>
            <a:endParaRPr lang="en-US" sz="2000" dirty="0"/>
          </a:p>
        </p:txBody>
      </p:sp>
      <p:sp>
        <p:nvSpPr>
          <p:cNvPr id="23" name="Shape 16">
            <a:extLst>
              <a:ext uri="{FF2B5EF4-FFF2-40B4-BE49-F238E27FC236}">
                <a16:creationId xmlns:a16="http://schemas.microsoft.com/office/drawing/2014/main" id="{279F0BF4-7B51-15BC-AC6C-9AF33AAA3D69}"/>
              </a:ext>
            </a:extLst>
          </p:cNvPr>
          <p:cNvSpPr/>
          <p:nvPr/>
        </p:nvSpPr>
        <p:spPr>
          <a:xfrm>
            <a:off x="1481328" y="5006340"/>
            <a:ext cx="0" cy="82296"/>
          </a:xfrm>
          <a:prstGeom prst="line">
            <a:avLst/>
          </a:prstGeom>
          <a:noFill/>
          <a:ln w="12700">
            <a:solidFill>
              <a:srgbClr val="2E5EA8"/>
            </a:solidFill>
            <a:prstDash val="solid"/>
          </a:ln>
        </p:spPr>
        <p:txBody>
          <a:bodyPr/>
          <a:lstStyle/>
          <a:p>
            <a:endParaRPr lang="en-IN" sz="2000"/>
          </a:p>
        </p:txBody>
      </p:sp>
      <p:sp>
        <p:nvSpPr>
          <p:cNvPr id="25" name="Shape 17">
            <a:extLst>
              <a:ext uri="{FF2B5EF4-FFF2-40B4-BE49-F238E27FC236}">
                <a16:creationId xmlns:a16="http://schemas.microsoft.com/office/drawing/2014/main" id="{F7762123-0E6A-F391-D082-E7DB59739865}"/>
              </a:ext>
            </a:extLst>
          </p:cNvPr>
          <p:cNvSpPr/>
          <p:nvPr/>
        </p:nvSpPr>
        <p:spPr>
          <a:xfrm>
            <a:off x="1138428" y="5452110"/>
            <a:ext cx="685800" cy="685800"/>
          </a:xfrm>
          <a:prstGeom prst="ellipse">
            <a:avLst/>
          </a:prstGeom>
          <a:solidFill>
            <a:srgbClr val="00CCBC"/>
          </a:solidFill>
          <a:ln/>
        </p:spPr>
        <p:txBody>
          <a:bodyPr/>
          <a:lstStyle/>
          <a:p>
            <a:endParaRPr lang="en-IN" sz="2000"/>
          </a:p>
        </p:txBody>
      </p:sp>
      <p:sp>
        <p:nvSpPr>
          <p:cNvPr id="27" name="Text 18">
            <a:extLst>
              <a:ext uri="{FF2B5EF4-FFF2-40B4-BE49-F238E27FC236}">
                <a16:creationId xmlns:a16="http://schemas.microsoft.com/office/drawing/2014/main" id="{521562C9-9C8C-453B-7CDC-1CF9FE27B2FD}"/>
              </a:ext>
            </a:extLst>
          </p:cNvPr>
          <p:cNvSpPr/>
          <p:nvPr/>
        </p:nvSpPr>
        <p:spPr>
          <a:xfrm>
            <a:off x="1138428" y="545211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000" b="1" dirty="0">
                <a:solidFill>
                  <a:srgbClr val="0F2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29" name="Text 19">
            <a:extLst>
              <a:ext uri="{FF2B5EF4-FFF2-40B4-BE49-F238E27FC236}">
                <a16:creationId xmlns:a16="http://schemas.microsoft.com/office/drawing/2014/main" id="{08A7708D-E922-832F-813A-86DE9A8B8CC8}"/>
              </a:ext>
            </a:extLst>
          </p:cNvPr>
          <p:cNvSpPr/>
          <p:nvPr/>
        </p:nvSpPr>
        <p:spPr>
          <a:xfrm>
            <a:off x="2098548" y="5198364"/>
            <a:ext cx="6158484" cy="11932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4000"/>
              </a:lnSpc>
            </a:pPr>
            <a:r>
              <a:rPr lang="en-US" sz="2000" dirty="0">
                <a:solidFill>
                  <a:srgbClr val="DCE6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FastAPI backend queries the checklist repository to determine whether an applicable assessment checklist already exists.</a:t>
            </a:r>
            <a:endParaRPr lang="en-US" sz="2000" dirty="0"/>
          </a:p>
        </p:txBody>
      </p:sp>
      <p:sp>
        <p:nvSpPr>
          <p:cNvPr id="31" name="Shape 20">
            <a:extLst>
              <a:ext uri="{FF2B5EF4-FFF2-40B4-BE49-F238E27FC236}">
                <a16:creationId xmlns:a16="http://schemas.microsoft.com/office/drawing/2014/main" id="{B40B4E92-4AB3-0C2E-A8B8-CDE8C684AC18}"/>
              </a:ext>
            </a:extLst>
          </p:cNvPr>
          <p:cNvSpPr/>
          <p:nvPr/>
        </p:nvSpPr>
        <p:spPr>
          <a:xfrm>
            <a:off x="1481328" y="6419088"/>
            <a:ext cx="0" cy="82296"/>
          </a:xfrm>
          <a:prstGeom prst="line">
            <a:avLst/>
          </a:prstGeom>
          <a:noFill/>
          <a:ln w="12700">
            <a:solidFill>
              <a:srgbClr val="2E5EA8"/>
            </a:solidFill>
            <a:prstDash val="solid"/>
          </a:ln>
        </p:spPr>
        <p:txBody>
          <a:bodyPr/>
          <a:lstStyle/>
          <a:p>
            <a:endParaRPr lang="en-IN" sz="2000"/>
          </a:p>
        </p:txBody>
      </p:sp>
      <p:sp>
        <p:nvSpPr>
          <p:cNvPr id="33" name="Shape 21">
            <a:extLst>
              <a:ext uri="{FF2B5EF4-FFF2-40B4-BE49-F238E27FC236}">
                <a16:creationId xmlns:a16="http://schemas.microsoft.com/office/drawing/2014/main" id="{41452189-4D5B-680D-B945-B20805708205}"/>
              </a:ext>
            </a:extLst>
          </p:cNvPr>
          <p:cNvSpPr/>
          <p:nvPr/>
        </p:nvSpPr>
        <p:spPr>
          <a:xfrm>
            <a:off x="1138428" y="6864858"/>
            <a:ext cx="685800" cy="685800"/>
          </a:xfrm>
          <a:prstGeom prst="ellipse">
            <a:avLst/>
          </a:prstGeom>
          <a:solidFill>
            <a:srgbClr val="00CCBC"/>
          </a:solidFill>
          <a:ln/>
        </p:spPr>
        <p:txBody>
          <a:bodyPr/>
          <a:lstStyle/>
          <a:p>
            <a:endParaRPr lang="en-IN" sz="2000"/>
          </a:p>
        </p:txBody>
      </p:sp>
      <p:sp>
        <p:nvSpPr>
          <p:cNvPr id="35" name="Text 22">
            <a:extLst>
              <a:ext uri="{FF2B5EF4-FFF2-40B4-BE49-F238E27FC236}">
                <a16:creationId xmlns:a16="http://schemas.microsoft.com/office/drawing/2014/main" id="{9EA47069-5501-7D7F-8DDD-F540CA85E91A}"/>
              </a:ext>
            </a:extLst>
          </p:cNvPr>
          <p:cNvSpPr/>
          <p:nvPr/>
        </p:nvSpPr>
        <p:spPr>
          <a:xfrm>
            <a:off x="1138428" y="6864858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000" b="1" dirty="0">
                <a:solidFill>
                  <a:srgbClr val="0F2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000" dirty="0"/>
          </a:p>
        </p:txBody>
      </p:sp>
      <p:sp>
        <p:nvSpPr>
          <p:cNvPr id="37" name="Text 23">
            <a:extLst>
              <a:ext uri="{FF2B5EF4-FFF2-40B4-BE49-F238E27FC236}">
                <a16:creationId xmlns:a16="http://schemas.microsoft.com/office/drawing/2014/main" id="{23CF7B9B-4C21-42F7-575A-0DF79755E48B}"/>
              </a:ext>
            </a:extLst>
          </p:cNvPr>
          <p:cNvSpPr/>
          <p:nvPr/>
        </p:nvSpPr>
        <p:spPr>
          <a:xfrm>
            <a:off x="2098548" y="6611112"/>
            <a:ext cx="6158484" cy="11932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4000"/>
              </a:lnSpc>
            </a:pPr>
            <a:r>
              <a:rPr lang="en-US" sz="2000" dirty="0">
                <a:solidFill>
                  <a:srgbClr val="DCE6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a checklist is available, the backend retrieves the relevant controls from checklists repository.</a:t>
            </a:r>
            <a:endParaRPr lang="en-US" sz="2000" dirty="0"/>
          </a:p>
        </p:txBody>
      </p:sp>
      <p:sp>
        <p:nvSpPr>
          <p:cNvPr id="39" name="Shape 24">
            <a:extLst>
              <a:ext uri="{FF2B5EF4-FFF2-40B4-BE49-F238E27FC236}">
                <a16:creationId xmlns:a16="http://schemas.microsoft.com/office/drawing/2014/main" id="{B5673567-BF0A-17F8-BD66-EAAEFD64A963}"/>
              </a:ext>
            </a:extLst>
          </p:cNvPr>
          <p:cNvSpPr/>
          <p:nvPr/>
        </p:nvSpPr>
        <p:spPr>
          <a:xfrm>
            <a:off x="1481328" y="7831836"/>
            <a:ext cx="0" cy="82296"/>
          </a:xfrm>
          <a:prstGeom prst="line">
            <a:avLst/>
          </a:prstGeom>
          <a:noFill/>
          <a:ln w="12700">
            <a:solidFill>
              <a:srgbClr val="2E5EA8"/>
            </a:solidFill>
            <a:prstDash val="solid"/>
          </a:ln>
        </p:spPr>
        <p:txBody>
          <a:bodyPr/>
          <a:lstStyle/>
          <a:p>
            <a:endParaRPr lang="en-IN" sz="2000"/>
          </a:p>
        </p:txBody>
      </p:sp>
      <p:sp>
        <p:nvSpPr>
          <p:cNvPr id="41" name="Shape 25">
            <a:extLst>
              <a:ext uri="{FF2B5EF4-FFF2-40B4-BE49-F238E27FC236}">
                <a16:creationId xmlns:a16="http://schemas.microsoft.com/office/drawing/2014/main" id="{BAC454EA-4836-6D51-AB30-5EEC1F5F1333}"/>
              </a:ext>
            </a:extLst>
          </p:cNvPr>
          <p:cNvSpPr/>
          <p:nvPr/>
        </p:nvSpPr>
        <p:spPr>
          <a:xfrm>
            <a:off x="1138428" y="8277606"/>
            <a:ext cx="685800" cy="685800"/>
          </a:xfrm>
          <a:prstGeom prst="ellipse">
            <a:avLst/>
          </a:prstGeom>
          <a:solidFill>
            <a:srgbClr val="00CCBC"/>
          </a:solidFill>
          <a:ln/>
        </p:spPr>
        <p:txBody>
          <a:bodyPr/>
          <a:lstStyle/>
          <a:p>
            <a:endParaRPr lang="en-IN" sz="2000"/>
          </a:p>
        </p:txBody>
      </p:sp>
      <p:sp>
        <p:nvSpPr>
          <p:cNvPr id="43" name="Text 26">
            <a:extLst>
              <a:ext uri="{FF2B5EF4-FFF2-40B4-BE49-F238E27FC236}">
                <a16:creationId xmlns:a16="http://schemas.microsoft.com/office/drawing/2014/main" id="{1B413AE9-4DF2-CB8F-4714-DC6E9DD7AF30}"/>
              </a:ext>
            </a:extLst>
          </p:cNvPr>
          <p:cNvSpPr/>
          <p:nvPr/>
        </p:nvSpPr>
        <p:spPr>
          <a:xfrm>
            <a:off x="1138428" y="8277606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000" b="1" dirty="0">
                <a:solidFill>
                  <a:srgbClr val="0F2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000" dirty="0"/>
          </a:p>
        </p:txBody>
      </p:sp>
      <p:sp>
        <p:nvSpPr>
          <p:cNvPr id="45" name="Text 27">
            <a:extLst>
              <a:ext uri="{FF2B5EF4-FFF2-40B4-BE49-F238E27FC236}">
                <a16:creationId xmlns:a16="http://schemas.microsoft.com/office/drawing/2014/main" id="{9C4DCF58-F5A0-9B93-B8B8-4E7F4C052643}"/>
              </a:ext>
            </a:extLst>
          </p:cNvPr>
          <p:cNvSpPr/>
          <p:nvPr/>
        </p:nvSpPr>
        <p:spPr>
          <a:xfrm>
            <a:off x="2098548" y="8023860"/>
            <a:ext cx="6158484" cy="11932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4000"/>
              </a:lnSpc>
            </a:pPr>
            <a:r>
              <a:rPr lang="en-US" sz="2000" dirty="0">
                <a:solidFill>
                  <a:srgbClr val="DCE6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no applicable checklist exists, the AI Module generates a draft checklist using the pre-trained language model.</a:t>
            </a:r>
            <a:endParaRPr lang="en-US" sz="2000" dirty="0"/>
          </a:p>
        </p:txBody>
      </p:sp>
      <p:sp>
        <p:nvSpPr>
          <p:cNvPr id="47" name="Shape 28">
            <a:extLst>
              <a:ext uri="{FF2B5EF4-FFF2-40B4-BE49-F238E27FC236}">
                <a16:creationId xmlns:a16="http://schemas.microsoft.com/office/drawing/2014/main" id="{28498854-E78E-8E2B-8FD9-1E27394D0955}"/>
              </a:ext>
            </a:extLst>
          </p:cNvPr>
          <p:cNvSpPr/>
          <p:nvPr/>
        </p:nvSpPr>
        <p:spPr>
          <a:xfrm>
            <a:off x="9121140" y="1988820"/>
            <a:ext cx="7886700" cy="7713250"/>
          </a:xfrm>
          <a:prstGeom prst="roundRect">
            <a:avLst>
              <a:gd name="adj" fmla="val 1748"/>
            </a:avLst>
          </a:prstGeom>
          <a:solidFill>
            <a:srgbClr val="17376B"/>
          </a:solidFill>
          <a:ln w="12700">
            <a:solidFill>
              <a:srgbClr val="2E5EA8"/>
            </a:solidFill>
            <a:prstDash val="solid"/>
          </a:ln>
          <a:effectLst>
            <a:outerShdw blurRad="101600" dist="381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 sz="2100"/>
          </a:p>
        </p:txBody>
      </p:sp>
      <p:sp>
        <p:nvSpPr>
          <p:cNvPr id="49" name="Shape 29">
            <a:extLst>
              <a:ext uri="{FF2B5EF4-FFF2-40B4-BE49-F238E27FC236}">
                <a16:creationId xmlns:a16="http://schemas.microsoft.com/office/drawing/2014/main" id="{8C90DE08-EA67-A194-0703-DCA1731CF9B4}"/>
              </a:ext>
            </a:extLst>
          </p:cNvPr>
          <p:cNvSpPr/>
          <p:nvPr/>
        </p:nvSpPr>
        <p:spPr>
          <a:xfrm>
            <a:off x="9505188" y="2626614"/>
            <a:ext cx="685800" cy="685800"/>
          </a:xfrm>
          <a:prstGeom prst="ellipse">
            <a:avLst/>
          </a:prstGeom>
          <a:solidFill>
            <a:srgbClr val="00CCBC"/>
          </a:solidFill>
          <a:ln/>
        </p:spPr>
        <p:txBody>
          <a:bodyPr/>
          <a:lstStyle/>
          <a:p>
            <a:endParaRPr lang="en-IN" sz="2000"/>
          </a:p>
        </p:txBody>
      </p:sp>
      <p:sp>
        <p:nvSpPr>
          <p:cNvPr id="51" name="Text 30">
            <a:extLst>
              <a:ext uri="{FF2B5EF4-FFF2-40B4-BE49-F238E27FC236}">
                <a16:creationId xmlns:a16="http://schemas.microsoft.com/office/drawing/2014/main" id="{D5737517-FDC5-39E9-DCD1-4DE00E881953}"/>
              </a:ext>
            </a:extLst>
          </p:cNvPr>
          <p:cNvSpPr/>
          <p:nvPr/>
        </p:nvSpPr>
        <p:spPr>
          <a:xfrm>
            <a:off x="9505188" y="2626614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000" b="1" dirty="0">
                <a:solidFill>
                  <a:srgbClr val="0F2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000" dirty="0"/>
          </a:p>
        </p:txBody>
      </p:sp>
      <p:sp>
        <p:nvSpPr>
          <p:cNvPr id="53" name="Text 31">
            <a:extLst>
              <a:ext uri="{FF2B5EF4-FFF2-40B4-BE49-F238E27FC236}">
                <a16:creationId xmlns:a16="http://schemas.microsoft.com/office/drawing/2014/main" id="{D53E11CE-F397-0D0E-B8C4-5C8F6EAB7902}"/>
              </a:ext>
            </a:extLst>
          </p:cNvPr>
          <p:cNvSpPr/>
          <p:nvPr/>
        </p:nvSpPr>
        <p:spPr>
          <a:xfrm>
            <a:off x="10465308" y="2372868"/>
            <a:ext cx="6158484" cy="11932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4000"/>
              </a:lnSpc>
            </a:pPr>
            <a:r>
              <a:rPr lang="en-US" sz="2000" dirty="0">
                <a:solidFill>
                  <a:srgbClr val="DCE6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generate checklists is routed to reviewer for validation, modification and approval or rejection.</a:t>
            </a:r>
            <a:endParaRPr lang="en-US" sz="2000" dirty="0"/>
          </a:p>
        </p:txBody>
      </p:sp>
      <p:sp>
        <p:nvSpPr>
          <p:cNvPr id="55" name="Shape 32">
            <a:extLst>
              <a:ext uri="{FF2B5EF4-FFF2-40B4-BE49-F238E27FC236}">
                <a16:creationId xmlns:a16="http://schemas.microsoft.com/office/drawing/2014/main" id="{A36FE695-9268-480D-F9A8-D018D0568369}"/>
              </a:ext>
            </a:extLst>
          </p:cNvPr>
          <p:cNvSpPr/>
          <p:nvPr/>
        </p:nvSpPr>
        <p:spPr>
          <a:xfrm>
            <a:off x="9848088" y="3593592"/>
            <a:ext cx="0" cy="82296"/>
          </a:xfrm>
          <a:prstGeom prst="line">
            <a:avLst/>
          </a:prstGeom>
          <a:noFill/>
          <a:ln w="12700">
            <a:solidFill>
              <a:srgbClr val="2E5EA8"/>
            </a:solidFill>
            <a:prstDash val="solid"/>
          </a:ln>
        </p:spPr>
        <p:txBody>
          <a:bodyPr/>
          <a:lstStyle/>
          <a:p>
            <a:endParaRPr lang="en-IN" sz="2000"/>
          </a:p>
        </p:txBody>
      </p:sp>
      <p:sp>
        <p:nvSpPr>
          <p:cNvPr id="57" name="Shape 33">
            <a:extLst>
              <a:ext uri="{FF2B5EF4-FFF2-40B4-BE49-F238E27FC236}">
                <a16:creationId xmlns:a16="http://schemas.microsoft.com/office/drawing/2014/main" id="{2C423F9F-2838-3B0D-8635-450BF7AF2772}"/>
              </a:ext>
            </a:extLst>
          </p:cNvPr>
          <p:cNvSpPr/>
          <p:nvPr/>
        </p:nvSpPr>
        <p:spPr>
          <a:xfrm>
            <a:off x="9505188" y="4039362"/>
            <a:ext cx="685800" cy="685800"/>
          </a:xfrm>
          <a:prstGeom prst="ellipse">
            <a:avLst/>
          </a:prstGeom>
          <a:solidFill>
            <a:srgbClr val="00CCBC"/>
          </a:solidFill>
          <a:ln/>
        </p:spPr>
        <p:txBody>
          <a:bodyPr/>
          <a:lstStyle/>
          <a:p>
            <a:endParaRPr lang="en-IN" sz="2000"/>
          </a:p>
        </p:txBody>
      </p:sp>
      <p:sp>
        <p:nvSpPr>
          <p:cNvPr id="59" name="Text 34">
            <a:extLst>
              <a:ext uri="{FF2B5EF4-FFF2-40B4-BE49-F238E27FC236}">
                <a16:creationId xmlns:a16="http://schemas.microsoft.com/office/drawing/2014/main" id="{A8C4F8D3-883E-0D2E-4765-BB3414C233F0}"/>
              </a:ext>
            </a:extLst>
          </p:cNvPr>
          <p:cNvSpPr/>
          <p:nvPr/>
        </p:nvSpPr>
        <p:spPr>
          <a:xfrm>
            <a:off x="9505188" y="4039362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000" b="1" dirty="0">
                <a:solidFill>
                  <a:srgbClr val="0F2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2000" dirty="0"/>
          </a:p>
        </p:txBody>
      </p:sp>
      <p:sp>
        <p:nvSpPr>
          <p:cNvPr id="61" name="Text 35">
            <a:extLst>
              <a:ext uri="{FF2B5EF4-FFF2-40B4-BE49-F238E27FC236}">
                <a16:creationId xmlns:a16="http://schemas.microsoft.com/office/drawing/2014/main" id="{F32D0F81-14AA-A873-ADE5-19B42C07FFF2}"/>
              </a:ext>
            </a:extLst>
          </p:cNvPr>
          <p:cNvSpPr/>
          <p:nvPr/>
        </p:nvSpPr>
        <p:spPr>
          <a:xfrm>
            <a:off x="10465308" y="3785616"/>
            <a:ext cx="6158484" cy="11932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4000"/>
              </a:lnSpc>
            </a:pPr>
            <a:r>
              <a:rPr lang="en-US" sz="2000" dirty="0">
                <a:solidFill>
                  <a:srgbClr val="DCE6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reviewer evaluates the assessment notes, compliance status, evidence, and comments.</a:t>
            </a:r>
            <a:endParaRPr lang="en-US" sz="2000" dirty="0"/>
          </a:p>
        </p:txBody>
      </p:sp>
      <p:sp>
        <p:nvSpPr>
          <p:cNvPr id="63" name="Shape 36">
            <a:extLst>
              <a:ext uri="{FF2B5EF4-FFF2-40B4-BE49-F238E27FC236}">
                <a16:creationId xmlns:a16="http://schemas.microsoft.com/office/drawing/2014/main" id="{C7902A72-6768-43A5-5F94-09F6463AB114}"/>
              </a:ext>
            </a:extLst>
          </p:cNvPr>
          <p:cNvSpPr/>
          <p:nvPr/>
        </p:nvSpPr>
        <p:spPr>
          <a:xfrm>
            <a:off x="9848088" y="5006340"/>
            <a:ext cx="0" cy="82296"/>
          </a:xfrm>
          <a:prstGeom prst="line">
            <a:avLst/>
          </a:prstGeom>
          <a:noFill/>
          <a:ln w="12700">
            <a:solidFill>
              <a:srgbClr val="2E5EA8"/>
            </a:solidFill>
            <a:prstDash val="solid"/>
          </a:ln>
        </p:spPr>
        <p:txBody>
          <a:bodyPr/>
          <a:lstStyle/>
          <a:p>
            <a:endParaRPr lang="en-IN" sz="2000"/>
          </a:p>
        </p:txBody>
      </p:sp>
      <p:sp>
        <p:nvSpPr>
          <p:cNvPr id="65" name="Shape 37">
            <a:extLst>
              <a:ext uri="{FF2B5EF4-FFF2-40B4-BE49-F238E27FC236}">
                <a16:creationId xmlns:a16="http://schemas.microsoft.com/office/drawing/2014/main" id="{8402AECE-B316-A2AC-442B-27B0B99A1711}"/>
              </a:ext>
            </a:extLst>
          </p:cNvPr>
          <p:cNvSpPr/>
          <p:nvPr/>
        </p:nvSpPr>
        <p:spPr>
          <a:xfrm>
            <a:off x="9505188" y="5452110"/>
            <a:ext cx="685800" cy="685800"/>
          </a:xfrm>
          <a:prstGeom prst="ellipse">
            <a:avLst/>
          </a:prstGeom>
          <a:solidFill>
            <a:srgbClr val="00CCBC"/>
          </a:solidFill>
          <a:ln/>
        </p:spPr>
        <p:txBody>
          <a:bodyPr/>
          <a:lstStyle/>
          <a:p>
            <a:endParaRPr lang="en-IN" sz="2000"/>
          </a:p>
        </p:txBody>
      </p:sp>
      <p:sp>
        <p:nvSpPr>
          <p:cNvPr id="67" name="Text 38">
            <a:extLst>
              <a:ext uri="{FF2B5EF4-FFF2-40B4-BE49-F238E27FC236}">
                <a16:creationId xmlns:a16="http://schemas.microsoft.com/office/drawing/2014/main" id="{B448989D-B275-1318-E7CB-3C888597CE7A}"/>
              </a:ext>
            </a:extLst>
          </p:cNvPr>
          <p:cNvSpPr/>
          <p:nvPr/>
        </p:nvSpPr>
        <p:spPr>
          <a:xfrm>
            <a:off x="9505188" y="545211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000" b="1" dirty="0">
                <a:solidFill>
                  <a:srgbClr val="0F2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2000" dirty="0"/>
          </a:p>
        </p:txBody>
      </p:sp>
      <p:sp>
        <p:nvSpPr>
          <p:cNvPr id="69" name="Text 39">
            <a:extLst>
              <a:ext uri="{FF2B5EF4-FFF2-40B4-BE49-F238E27FC236}">
                <a16:creationId xmlns:a16="http://schemas.microsoft.com/office/drawing/2014/main" id="{B7A13837-CCFF-C5C0-AEDA-8F0EFB8A8667}"/>
              </a:ext>
            </a:extLst>
          </p:cNvPr>
          <p:cNvSpPr/>
          <p:nvPr/>
        </p:nvSpPr>
        <p:spPr>
          <a:xfrm>
            <a:off x="10465308" y="5198364"/>
            <a:ext cx="6158484" cy="11932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4000"/>
              </a:lnSpc>
            </a:pPr>
            <a:r>
              <a:rPr lang="en-US" sz="2000" dirty="0">
                <a:solidFill>
                  <a:srgbClr val="DCE6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Assessment results and supporting evidence are persisted in the data layer and associated with corresponding engagement.</a:t>
            </a:r>
            <a:endParaRPr lang="en-US" sz="2000" dirty="0"/>
          </a:p>
        </p:txBody>
      </p:sp>
      <p:sp>
        <p:nvSpPr>
          <p:cNvPr id="71" name="Shape 40">
            <a:extLst>
              <a:ext uri="{FF2B5EF4-FFF2-40B4-BE49-F238E27FC236}">
                <a16:creationId xmlns:a16="http://schemas.microsoft.com/office/drawing/2014/main" id="{9E164EAC-9E58-14C0-2B0D-7DF334595E85}"/>
              </a:ext>
            </a:extLst>
          </p:cNvPr>
          <p:cNvSpPr/>
          <p:nvPr/>
        </p:nvSpPr>
        <p:spPr>
          <a:xfrm>
            <a:off x="9848088" y="6419088"/>
            <a:ext cx="0" cy="82296"/>
          </a:xfrm>
          <a:prstGeom prst="line">
            <a:avLst/>
          </a:prstGeom>
          <a:noFill/>
          <a:ln w="12700">
            <a:solidFill>
              <a:srgbClr val="2E5EA8"/>
            </a:solidFill>
            <a:prstDash val="solid"/>
          </a:ln>
        </p:spPr>
        <p:txBody>
          <a:bodyPr/>
          <a:lstStyle/>
          <a:p>
            <a:endParaRPr lang="en-IN" sz="2000"/>
          </a:p>
        </p:txBody>
      </p:sp>
      <p:sp>
        <p:nvSpPr>
          <p:cNvPr id="73" name="Shape 41">
            <a:extLst>
              <a:ext uri="{FF2B5EF4-FFF2-40B4-BE49-F238E27FC236}">
                <a16:creationId xmlns:a16="http://schemas.microsoft.com/office/drawing/2014/main" id="{D6DFC455-0479-9D0F-A03C-1DBC1C77DE16}"/>
              </a:ext>
            </a:extLst>
          </p:cNvPr>
          <p:cNvSpPr/>
          <p:nvPr/>
        </p:nvSpPr>
        <p:spPr>
          <a:xfrm>
            <a:off x="9505188" y="6864858"/>
            <a:ext cx="685800" cy="685800"/>
          </a:xfrm>
          <a:prstGeom prst="ellipse">
            <a:avLst/>
          </a:prstGeom>
          <a:solidFill>
            <a:srgbClr val="00CCBC"/>
          </a:solidFill>
          <a:ln/>
        </p:spPr>
        <p:txBody>
          <a:bodyPr/>
          <a:lstStyle/>
          <a:p>
            <a:endParaRPr lang="en-IN" sz="2000"/>
          </a:p>
        </p:txBody>
      </p:sp>
      <p:sp>
        <p:nvSpPr>
          <p:cNvPr id="75" name="Text 42">
            <a:extLst>
              <a:ext uri="{FF2B5EF4-FFF2-40B4-BE49-F238E27FC236}">
                <a16:creationId xmlns:a16="http://schemas.microsoft.com/office/drawing/2014/main" id="{0A67C0D9-5E25-99AD-220B-3BCDC914325A}"/>
              </a:ext>
            </a:extLst>
          </p:cNvPr>
          <p:cNvSpPr/>
          <p:nvPr/>
        </p:nvSpPr>
        <p:spPr>
          <a:xfrm>
            <a:off x="9505188" y="6864858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000" b="1" dirty="0">
                <a:solidFill>
                  <a:srgbClr val="0F2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2000" dirty="0"/>
          </a:p>
        </p:txBody>
      </p:sp>
      <p:sp>
        <p:nvSpPr>
          <p:cNvPr id="77" name="Text 43">
            <a:extLst>
              <a:ext uri="{FF2B5EF4-FFF2-40B4-BE49-F238E27FC236}">
                <a16:creationId xmlns:a16="http://schemas.microsoft.com/office/drawing/2014/main" id="{1970FAF8-23F7-EDCB-B42F-CC0021F24D65}"/>
              </a:ext>
            </a:extLst>
          </p:cNvPr>
          <p:cNvSpPr/>
          <p:nvPr/>
        </p:nvSpPr>
        <p:spPr>
          <a:xfrm>
            <a:off x="10465308" y="6611112"/>
            <a:ext cx="6158484" cy="11932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4000"/>
              </a:lnSpc>
            </a:pPr>
            <a:r>
              <a:rPr lang="en-US" sz="2000" dirty="0">
                <a:solidFill>
                  <a:srgbClr val="DCE6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backend processes assessment data to calculate identify control gaps, generate risk insights and compliance score for the dashboard.</a:t>
            </a:r>
            <a:endParaRPr lang="en-US" sz="2000" dirty="0"/>
          </a:p>
        </p:txBody>
      </p:sp>
      <p:sp>
        <p:nvSpPr>
          <p:cNvPr id="79" name="Shape 44">
            <a:extLst>
              <a:ext uri="{FF2B5EF4-FFF2-40B4-BE49-F238E27FC236}">
                <a16:creationId xmlns:a16="http://schemas.microsoft.com/office/drawing/2014/main" id="{46E7BB3A-E51B-C6E8-C07E-0AF6F2F17BF3}"/>
              </a:ext>
            </a:extLst>
          </p:cNvPr>
          <p:cNvSpPr/>
          <p:nvPr/>
        </p:nvSpPr>
        <p:spPr>
          <a:xfrm>
            <a:off x="9848088" y="7831836"/>
            <a:ext cx="0" cy="82296"/>
          </a:xfrm>
          <a:prstGeom prst="line">
            <a:avLst/>
          </a:prstGeom>
          <a:noFill/>
          <a:ln w="12700">
            <a:solidFill>
              <a:srgbClr val="2E5EA8"/>
            </a:solidFill>
            <a:prstDash val="solid"/>
          </a:ln>
        </p:spPr>
        <p:txBody>
          <a:bodyPr/>
          <a:lstStyle/>
          <a:p>
            <a:endParaRPr lang="en-IN" sz="2000"/>
          </a:p>
        </p:txBody>
      </p:sp>
      <p:sp>
        <p:nvSpPr>
          <p:cNvPr id="81" name="Shape 45">
            <a:extLst>
              <a:ext uri="{FF2B5EF4-FFF2-40B4-BE49-F238E27FC236}">
                <a16:creationId xmlns:a16="http://schemas.microsoft.com/office/drawing/2014/main" id="{471B3F7A-C164-1121-8652-94366F7F81ED}"/>
              </a:ext>
            </a:extLst>
          </p:cNvPr>
          <p:cNvSpPr/>
          <p:nvPr/>
        </p:nvSpPr>
        <p:spPr>
          <a:xfrm>
            <a:off x="9505188" y="8277606"/>
            <a:ext cx="685800" cy="685800"/>
          </a:xfrm>
          <a:prstGeom prst="ellipse">
            <a:avLst/>
          </a:prstGeom>
          <a:solidFill>
            <a:srgbClr val="00CCBC"/>
          </a:solidFill>
          <a:ln/>
        </p:spPr>
        <p:txBody>
          <a:bodyPr/>
          <a:lstStyle/>
          <a:p>
            <a:endParaRPr lang="en-IN" sz="2000"/>
          </a:p>
        </p:txBody>
      </p:sp>
      <p:sp>
        <p:nvSpPr>
          <p:cNvPr id="83" name="Text 46">
            <a:extLst>
              <a:ext uri="{FF2B5EF4-FFF2-40B4-BE49-F238E27FC236}">
                <a16:creationId xmlns:a16="http://schemas.microsoft.com/office/drawing/2014/main" id="{C4ABBC0D-0729-6377-E36B-6C5615960DC6}"/>
              </a:ext>
            </a:extLst>
          </p:cNvPr>
          <p:cNvSpPr/>
          <p:nvPr/>
        </p:nvSpPr>
        <p:spPr>
          <a:xfrm>
            <a:off x="9505188" y="8277606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000" b="1" dirty="0">
                <a:solidFill>
                  <a:srgbClr val="0F2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2000" dirty="0"/>
          </a:p>
        </p:txBody>
      </p:sp>
      <p:sp>
        <p:nvSpPr>
          <p:cNvPr id="85" name="Text 47">
            <a:extLst>
              <a:ext uri="{FF2B5EF4-FFF2-40B4-BE49-F238E27FC236}">
                <a16:creationId xmlns:a16="http://schemas.microsoft.com/office/drawing/2014/main" id="{1C2F81B5-A8D0-1C74-9C5F-4BC2A738164E}"/>
              </a:ext>
            </a:extLst>
          </p:cNvPr>
          <p:cNvSpPr/>
          <p:nvPr/>
        </p:nvSpPr>
        <p:spPr>
          <a:xfrm>
            <a:off x="10465308" y="8023860"/>
            <a:ext cx="6158484" cy="11932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4000"/>
              </a:lnSpc>
            </a:pPr>
            <a:r>
              <a:rPr lang="en-US" sz="2000" dirty="0">
                <a:solidFill>
                  <a:srgbClr val="DCE6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system generates a consolidated assessment report containing compliance results, findings, risk information and supporting evidence, with export functionality.</a:t>
            </a:r>
            <a:endParaRPr lang="en-US" sz="2000" dirty="0"/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2724BEFD-9EA4-4EF8-DE98-BD926422F448}"/>
              </a:ext>
            </a:extLst>
          </p:cNvPr>
          <p:cNvSpPr txBox="1"/>
          <p:nvPr/>
        </p:nvSpPr>
        <p:spPr>
          <a:xfrm>
            <a:off x="1133856" y="584930"/>
            <a:ext cx="914400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Flow</a:t>
            </a:r>
            <a:endParaRPr lang="en-US" sz="4200" dirty="0"/>
          </a:p>
        </p:txBody>
      </p:sp>
    </p:spTree>
    <p:extLst>
      <p:ext uri="{BB962C8B-B14F-4D97-AF65-F5344CB8AC3E}">
        <p14:creationId xmlns:p14="http://schemas.microsoft.com/office/powerpoint/2010/main" val="6716058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hape 9">
            <a:extLst>
              <a:ext uri="{FF2B5EF4-FFF2-40B4-BE49-F238E27FC236}">
                <a16:creationId xmlns:a16="http://schemas.microsoft.com/office/drawing/2014/main" id="{DCA1984D-6917-153D-E9E6-5DAC961B80BD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prstGeom prst="roundRect">
            <a:avLst>
              <a:gd name="adj" fmla="val 0"/>
            </a:avLst>
          </a:prstGeom>
          <a:solidFill>
            <a:srgbClr val="F4F7FB"/>
          </a:solidFill>
          <a:ln w="15875">
            <a:solidFill>
              <a:srgbClr val="0D958B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3" name="Image 0" descr="/home/claude/unpacked/ppt/media/image2.png">
            <a:extLst>
              <a:ext uri="{FF2B5EF4-FFF2-40B4-BE49-F238E27FC236}">
                <a16:creationId xmlns:a16="http://schemas.microsoft.com/office/drawing/2014/main" id="{ABD45032-29CB-7D4F-C468-7A223C72C2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3978" y="0"/>
            <a:ext cx="16362502" cy="10044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38087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Shape 4">
            <a:extLst>
              <a:ext uri="{FF2B5EF4-FFF2-40B4-BE49-F238E27FC236}">
                <a16:creationId xmlns:a16="http://schemas.microsoft.com/office/drawing/2014/main" id="{372FD433-8E61-AA03-2E1A-993B90245A6D}"/>
              </a:ext>
            </a:extLst>
          </p:cNvPr>
          <p:cNvSpPr/>
          <p:nvPr/>
        </p:nvSpPr>
        <p:spPr>
          <a:xfrm>
            <a:off x="15475763" y="2221992"/>
            <a:ext cx="685800" cy="685800"/>
          </a:xfrm>
          <a:prstGeom prst="hexagon">
            <a:avLst/>
          </a:prstGeom>
          <a:ln w="19050">
            <a:solidFill>
              <a:srgbClr val="A5C8FD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IN" sz="2100"/>
          </a:p>
        </p:txBody>
      </p:sp>
      <p:sp>
        <p:nvSpPr>
          <p:cNvPr id="196" name="Shape 8">
            <a:extLst>
              <a:ext uri="{FF2B5EF4-FFF2-40B4-BE49-F238E27FC236}">
                <a16:creationId xmlns:a16="http://schemas.microsoft.com/office/drawing/2014/main" id="{711B94F3-B55E-765D-EA5F-F2409B11E3FA}"/>
              </a:ext>
            </a:extLst>
          </p:cNvPr>
          <p:cNvSpPr/>
          <p:nvPr/>
        </p:nvSpPr>
        <p:spPr>
          <a:xfrm>
            <a:off x="754380" y="2263140"/>
            <a:ext cx="5417820" cy="3497580"/>
          </a:xfrm>
          <a:prstGeom prst="roundRect">
            <a:avLst>
              <a:gd name="adj" fmla="val 3529"/>
            </a:avLst>
          </a:prstGeom>
          <a:noFill/>
          <a:ln w="12700">
            <a:noFill/>
            <a:prstDash val="solid"/>
          </a:ln>
          <a:effectLst>
            <a:outerShdw blurRad="101600" dist="381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 sz="2100"/>
          </a:p>
        </p:txBody>
      </p:sp>
      <p:sp>
        <p:nvSpPr>
          <p:cNvPr id="198" name="Shape 9">
            <a:extLst>
              <a:ext uri="{FF2B5EF4-FFF2-40B4-BE49-F238E27FC236}">
                <a16:creationId xmlns:a16="http://schemas.microsoft.com/office/drawing/2014/main" id="{07367551-8565-AC69-2D6B-3115CAFD4326}"/>
              </a:ext>
            </a:extLst>
          </p:cNvPr>
          <p:cNvSpPr/>
          <p:nvPr/>
        </p:nvSpPr>
        <p:spPr>
          <a:xfrm>
            <a:off x="1110996" y="2592324"/>
            <a:ext cx="768096" cy="768096"/>
          </a:xfrm>
          <a:prstGeom prst="ellipse">
            <a:avLst/>
          </a:prstGeom>
          <a:solidFill>
            <a:srgbClr val="00CCBC"/>
          </a:solidFill>
          <a:ln/>
          <a:effectLst>
            <a:outerShdw blurRad="76200" dist="254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 sz="2100"/>
          </a:p>
        </p:txBody>
      </p:sp>
      <p:pic>
        <p:nvPicPr>
          <p:cNvPr id="200" name="Image 0" descr="/home/claude/icons/gitbranch_white.png">
            <a:extLst>
              <a:ext uri="{FF2B5EF4-FFF2-40B4-BE49-F238E27FC236}">
                <a16:creationId xmlns:a16="http://schemas.microsoft.com/office/drawing/2014/main" id="{B660CC28-36D6-B471-1A3C-2B9ED29ACD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8382" y="2799710"/>
            <a:ext cx="353324" cy="353324"/>
          </a:xfrm>
          <a:prstGeom prst="rect">
            <a:avLst/>
          </a:prstGeom>
        </p:spPr>
      </p:pic>
      <p:sp>
        <p:nvSpPr>
          <p:cNvPr id="202" name="Text 10">
            <a:extLst>
              <a:ext uri="{FF2B5EF4-FFF2-40B4-BE49-F238E27FC236}">
                <a16:creationId xmlns:a16="http://schemas.microsoft.com/office/drawing/2014/main" id="{0A879944-2566-AED6-16CC-E00C38B37476}"/>
              </a:ext>
            </a:extLst>
          </p:cNvPr>
          <p:cNvSpPr/>
          <p:nvPr/>
        </p:nvSpPr>
        <p:spPr>
          <a:xfrm>
            <a:off x="1110996" y="3525012"/>
            <a:ext cx="4704588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Separation of Concerns</a:t>
            </a:r>
            <a:endParaRPr lang="en-US" sz="1950" dirty="0"/>
          </a:p>
        </p:txBody>
      </p:sp>
      <p:sp>
        <p:nvSpPr>
          <p:cNvPr id="204" name="Text 11">
            <a:extLst>
              <a:ext uri="{FF2B5EF4-FFF2-40B4-BE49-F238E27FC236}">
                <a16:creationId xmlns:a16="http://schemas.microsoft.com/office/drawing/2014/main" id="{9EBE9CFB-2318-0764-A9DE-D133D14913BE}"/>
              </a:ext>
            </a:extLst>
          </p:cNvPr>
          <p:cNvSpPr/>
          <p:nvPr/>
        </p:nvSpPr>
        <p:spPr>
          <a:xfrm>
            <a:off x="1110996" y="4389120"/>
            <a:ext cx="4704588" cy="11932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5000"/>
              </a:lnSpc>
            </a:pPr>
            <a:r>
              <a:rPr lang="en-US" sz="1530" dirty="0">
                <a:solidFill>
                  <a:srgbClr val="DCE6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Frontend, core logic, AI generation, data storage, human review, and output generation are each handled by a distinct part of the system.</a:t>
            </a:r>
            <a:endParaRPr lang="en-US" sz="1530" dirty="0"/>
          </a:p>
        </p:txBody>
      </p:sp>
      <p:sp>
        <p:nvSpPr>
          <p:cNvPr id="206" name="Shape 12">
            <a:extLst>
              <a:ext uri="{FF2B5EF4-FFF2-40B4-BE49-F238E27FC236}">
                <a16:creationId xmlns:a16="http://schemas.microsoft.com/office/drawing/2014/main" id="{4581675E-14DB-5169-F803-1408078BD6F3}"/>
              </a:ext>
            </a:extLst>
          </p:cNvPr>
          <p:cNvSpPr/>
          <p:nvPr/>
        </p:nvSpPr>
        <p:spPr>
          <a:xfrm>
            <a:off x="6446520" y="2263140"/>
            <a:ext cx="5417820" cy="3497580"/>
          </a:xfrm>
          <a:prstGeom prst="roundRect">
            <a:avLst>
              <a:gd name="adj" fmla="val 3529"/>
            </a:avLst>
          </a:prstGeom>
          <a:noFill/>
          <a:ln w="12700">
            <a:noFill/>
            <a:prstDash val="solid"/>
          </a:ln>
          <a:effectLst>
            <a:outerShdw blurRad="101600" dist="381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 sz="2100"/>
          </a:p>
        </p:txBody>
      </p:sp>
      <p:sp>
        <p:nvSpPr>
          <p:cNvPr id="208" name="Shape 13">
            <a:extLst>
              <a:ext uri="{FF2B5EF4-FFF2-40B4-BE49-F238E27FC236}">
                <a16:creationId xmlns:a16="http://schemas.microsoft.com/office/drawing/2014/main" id="{B64460AC-688A-8533-BB47-E7FE9C3BD533}"/>
              </a:ext>
            </a:extLst>
          </p:cNvPr>
          <p:cNvSpPr/>
          <p:nvPr/>
        </p:nvSpPr>
        <p:spPr>
          <a:xfrm>
            <a:off x="6803136" y="2592324"/>
            <a:ext cx="768096" cy="768096"/>
          </a:xfrm>
          <a:prstGeom prst="ellipse">
            <a:avLst/>
          </a:prstGeom>
          <a:solidFill>
            <a:srgbClr val="3D74C9"/>
          </a:solidFill>
          <a:ln/>
          <a:effectLst>
            <a:outerShdw blurRad="76200" dist="254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 sz="2100"/>
          </a:p>
        </p:txBody>
      </p:sp>
      <p:pic>
        <p:nvPicPr>
          <p:cNvPr id="210" name="Image 1" descr="/home/claude/icons/minimize_white.png">
            <a:extLst>
              <a:ext uri="{FF2B5EF4-FFF2-40B4-BE49-F238E27FC236}">
                <a16:creationId xmlns:a16="http://schemas.microsoft.com/office/drawing/2014/main" id="{3D41425E-1918-5481-FABE-D425FA1444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0522" y="2799710"/>
            <a:ext cx="353324" cy="353324"/>
          </a:xfrm>
          <a:prstGeom prst="rect">
            <a:avLst/>
          </a:prstGeom>
        </p:spPr>
      </p:pic>
      <p:sp>
        <p:nvSpPr>
          <p:cNvPr id="212" name="Text 14">
            <a:extLst>
              <a:ext uri="{FF2B5EF4-FFF2-40B4-BE49-F238E27FC236}">
                <a16:creationId xmlns:a16="http://schemas.microsoft.com/office/drawing/2014/main" id="{844EE887-3AF4-584E-7026-499FE017CAAC}"/>
              </a:ext>
            </a:extLst>
          </p:cNvPr>
          <p:cNvSpPr/>
          <p:nvPr/>
        </p:nvSpPr>
        <p:spPr>
          <a:xfrm>
            <a:off x="6803136" y="3525012"/>
            <a:ext cx="4704588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Appropriate Simplicity</a:t>
            </a:r>
            <a:endParaRPr lang="en-US" sz="1950" dirty="0"/>
          </a:p>
        </p:txBody>
      </p:sp>
      <p:sp>
        <p:nvSpPr>
          <p:cNvPr id="214" name="Text 15">
            <a:extLst>
              <a:ext uri="{FF2B5EF4-FFF2-40B4-BE49-F238E27FC236}">
                <a16:creationId xmlns:a16="http://schemas.microsoft.com/office/drawing/2014/main" id="{EBE71C72-A610-E46F-796E-02979496EF8C}"/>
              </a:ext>
            </a:extLst>
          </p:cNvPr>
          <p:cNvSpPr/>
          <p:nvPr/>
        </p:nvSpPr>
        <p:spPr>
          <a:xfrm>
            <a:off x="6803136" y="4389120"/>
            <a:ext cx="4704588" cy="11932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5000"/>
              </a:lnSpc>
            </a:pPr>
            <a:r>
              <a:rPr lang="en-US" sz="1530" dirty="0">
                <a:solidFill>
                  <a:srgbClr val="DCE6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CSV storage and a single-user model keep the current implementation lightweight and fast to develop for the prototype stage.</a:t>
            </a:r>
            <a:endParaRPr lang="en-US" sz="1530" dirty="0"/>
          </a:p>
        </p:txBody>
      </p:sp>
      <p:sp>
        <p:nvSpPr>
          <p:cNvPr id="216" name="Shape 16">
            <a:extLst>
              <a:ext uri="{FF2B5EF4-FFF2-40B4-BE49-F238E27FC236}">
                <a16:creationId xmlns:a16="http://schemas.microsoft.com/office/drawing/2014/main" id="{45F85B59-087A-C5E9-8C2E-DBC855FF105C}"/>
              </a:ext>
            </a:extLst>
          </p:cNvPr>
          <p:cNvSpPr/>
          <p:nvPr/>
        </p:nvSpPr>
        <p:spPr>
          <a:xfrm>
            <a:off x="12138660" y="2263140"/>
            <a:ext cx="5417820" cy="3497580"/>
          </a:xfrm>
          <a:prstGeom prst="roundRect">
            <a:avLst>
              <a:gd name="adj" fmla="val 3529"/>
            </a:avLst>
          </a:prstGeom>
          <a:noFill/>
          <a:ln w="12700">
            <a:noFill/>
            <a:prstDash val="solid"/>
          </a:ln>
          <a:effectLst>
            <a:outerShdw blurRad="101600" dist="381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 sz="2100"/>
          </a:p>
        </p:txBody>
      </p:sp>
      <p:sp>
        <p:nvSpPr>
          <p:cNvPr id="218" name="Shape 17">
            <a:extLst>
              <a:ext uri="{FF2B5EF4-FFF2-40B4-BE49-F238E27FC236}">
                <a16:creationId xmlns:a16="http://schemas.microsoft.com/office/drawing/2014/main" id="{88D8C6D1-AFBF-C504-2D22-BBD26F7ABAD6}"/>
              </a:ext>
            </a:extLst>
          </p:cNvPr>
          <p:cNvSpPr/>
          <p:nvPr/>
        </p:nvSpPr>
        <p:spPr>
          <a:xfrm>
            <a:off x="12495276" y="2592324"/>
            <a:ext cx="768096" cy="768096"/>
          </a:xfrm>
          <a:prstGeom prst="ellipse">
            <a:avLst/>
          </a:prstGeom>
          <a:solidFill>
            <a:srgbClr val="00CCBC"/>
          </a:solidFill>
          <a:ln/>
          <a:effectLst>
            <a:outerShdw blurRad="76200" dist="254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 sz="2100"/>
          </a:p>
        </p:txBody>
      </p:sp>
      <p:pic>
        <p:nvPicPr>
          <p:cNvPr id="220" name="Image 2" descr="/home/claude/icons/usercheck_white.png">
            <a:extLst>
              <a:ext uri="{FF2B5EF4-FFF2-40B4-BE49-F238E27FC236}">
                <a16:creationId xmlns:a16="http://schemas.microsoft.com/office/drawing/2014/main" id="{30255F2C-7ED8-C026-3EBB-E73D3D280F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702662" y="2799710"/>
            <a:ext cx="353324" cy="353324"/>
          </a:xfrm>
          <a:prstGeom prst="rect">
            <a:avLst/>
          </a:prstGeom>
        </p:spPr>
      </p:pic>
      <p:sp>
        <p:nvSpPr>
          <p:cNvPr id="222" name="Text 18">
            <a:extLst>
              <a:ext uri="{FF2B5EF4-FFF2-40B4-BE49-F238E27FC236}">
                <a16:creationId xmlns:a16="http://schemas.microsoft.com/office/drawing/2014/main" id="{C09DBFD8-890C-FC60-D9EB-F90F3AE8DB4A}"/>
              </a:ext>
            </a:extLst>
          </p:cNvPr>
          <p:cNvSpPr/>
          <p:nvPr/>
        </p:nvSpPr>
        <p:spPr>
          <a:xfrm>
            <a:off x="12495276" y="3525012"/>
            <a:ext cx="4704588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Human-in-the-Loop by Design</a:t>
            </a:r>
            <a:endParaRPr lang="en-US" sz="1950" dirty="0"/>
          </a:p>
        </p:txBody>
      </p:sp>
      <p:sp>
        <p:nvSpPr>
          <p:cNvPr id="224" name="Text 19">
            <a:extLst>
              <a:ext uri="{FF2B5EF4-FFF2-40B4-BE49-F238E27FC236}">
                <a16:creationId xmlns:a16="http://schemas.microsoft.com/office/drawing/2014/main" id="{4A4CF6CB-2311-FBEF-131C-3F75939B3F29}"/>
              </a:ext>
            </a:extLst>
          </p:cNvPr>
          <p:cNvSpPr/>
          <p:nvPr/>
        </p:nvSpPr>
        <p:spPr>
          <a:xfrm>
            <a:off x="12495276" y="4389120"/>
            <a:ext cx="4704588" cy="11932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5000"/>
              </a:lnSpc>
            </a:pPr>
            <a:r>
              <a:rPr lang="en-US" sz="1530" dirty="0">
                <a:solidFill>
                  <a:srgbClr val="DCE6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mandatory human review step ensures AI-generated content is never used directly — essential for a compliance-related tool.</a:t>
            </a:r>
            <a:endParaRPr lang="en-US" sz="1530" dirty="0"/>
          </a:p>
        </p:txBody>
      </p:sp>
      <p:sp>
        <p:nvSpPr>
          <p:cNvPr id="226" name="Shape 21">
            <a:extLst>
              <a:ext uri="{FF2B5EF4-FFF2-40B4-BE49-F238E27FC236}">
                <a16:creationId xmlns:a16="http://schemas.microsoft.com/office/drawing/2014/main" id="{8E6CD8DE-8118-F867-99DE-9F15E488AA75}"/>
              </a:ext>
            </a:extLst>
          </p:cNvPr>
          <p:cNvSpPr/>
          <p:nvPr/>
        </p:nvSpPr>
        <p:spPr>
          <a:xfrm>
            <a:off x="1110996" y="6295644"/>
            <a:ext cx="768096" cy="768096"/>
          </a:xfrm>
          <a:prstGeom prst="ellipse">
            <a:avLst/>
          </a:prstGeom>
          <a:solidFill>
            <a:srgbClr val="3D74C9"/>
          </a:solidFill>
          <a:ln/>
          <a:effectLst>
            <a:outerShdw blurRad="76200" dist="254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 sz="2100"/>
          </a:p>
        </p:txBody>
      </p:sp>
      <p:pic>
        <p:nvPicPr>
          <p:cNvPr id="228" name="Image 3" descr="/home/claude/icons/puzzle_white.png">
            <a:extLst>
              <a:ext uri="{FF2B5EF4-FFF2-40B4-BE49-F238E27FC236}">
                <a16:creationId xmlns:a16="http://schemas.microsoft.com/office/drawing/2014/main" id="{F9D8D2AC-E28E-4489-DD77-F7A556BD72E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18382" y="6503030"/>
            <a:ext cx="353324" cy="353324"/>
          </a:xfrm>
          <a:prstGeom prst="rect">
            <a:avLst/>
          </a:prstGeom>
        </p:spPr>
      </p:pic>
      <p:sp>
        <p:nvSpPr>
          <p:cNvPr id="230" name="Text 22">
            <a:extLst>
              <a:ext uri="{FF2B5EF4-FFF2-40B4-BE49-F238E27FC236}">
                <a16:creationId xmlns:a16="http://schemas.microsoft.com/office/drawing/2014/main" id="{4DBE35A0-BD2B-62FF-8D15-3136DE071792}"/>
              </a:ext>
            </a:extLst>
          </p:cNvPr>
          <p:cNvSpPr/>
          <p:nvPr/>
        </p:nvSpPr>
        <p:spPr>
          <a:xfrm>
            <a:off x="1110996" y="7228332"/>
            <a:ext cx="4704588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Modularity</a:t>
            </a:r>
            <a:endParaRPr lang="en-US" sz="1950" dirty="0"/>
          </a:p>
        </p:txBody>
      </p:sp>
      <p:sp>
        <p:nvSpPr>
          <p:cNvPr id="232" name="Text 23">
            <a:extLst>
              <a:ext uri="{FF2B5EF4-FFF2-40B4-BE49-F238E27FC236}">
                <a16:creationId xmlns:a16="http://schemas.microsoft.com/office/drawing/2014/main" id="{F591095D-585C-DE0B-20B3-F26903E4D3D0}"/>
              </a:ext>
            </a:extLst>
          </p:cNvPr>
          <p:cNvSpPr/>
          <p:nvPr/>
        </p:nvSpPr>
        <p:spPr>
          <a:xfrm>
            <a:off x="1110996" y="8092440"/>
            <a:ext cx="4704588" cy="11932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5000"/>
              </a:lnSpc>
            </a:pPr>
            <a:r>
              <a:rPr lang="en-US" sz="1530" dirty="0">
                <a:solidFill>
                  <a:srgbClr val="DCE6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AI module and Data Management module are separate, focused components that can each be improved or replaced independently.</a:t>
            </a:r>
            <a:endParaRPr lang="en-US" sz="1530" dirty="0"/>
          </a:p>
        </p:txBody>
      </p:sp>
      <p:sp>
        <p:nvSpPr>
          <p:cNvPr id="234" name="Shape 25">
            <a:extLst>
              <a:ext uri="{FF2B5EF4-FFF2-40B4-BE49-F238E27FC236}">
                <a16:creationId xmlns:a16="http://schemas.microsoft.com/office/drawing/2014/main" id="{924AB43F-B85E-B2C6-85DA-BB229E28EE4B}"/>
              </a:ext>
            </a:extLst>
          </p:cNvPr>
          <p:cNvSpPr/>
          <p:nvPr/>
        </p:nvSpPr>
        <p:spPr>
          <a:xfrm>
            <a:off x="6803136" y="6295644"/>
            <a:ext cx="768096" cy="768096"/>
          </a:xfrm>
          <a:prstGeom prst="ellipse">
            <a:avLst/>
          </a:prstGeom>
          <a:solidFill>
            <a:srgbClr val="00CCBC"/>
          </a:solidFill>
          <a:ln/>
          <a:effectLst>
            <a:outerShdw blurRad="76200" dist="254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 sz="2100"/>
          </a:p>
        </p:txBody>
      </p:sp>
      <p:pic>
        <p:nvPicPr>
          <p:cNvPr id="236" name="Image 4" descr="/home/claude/icons/waypoints_white.png">
            <a:extLst>
              <a:ext uri="{FF2B5EF4-FFF2-40B4-BE49-F238E27FC236}">
                <a16:creationId xmlns:a16="http://schemas.microsoft.com/office/drawing/2014/main" id="{187BD8BC-8BB1-0156-A5A6-5580495154C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10522" y="6503030"/>
            <a:ext cx="353324" cy="353324"/>
          </a:xfrm>
          <a:prstGeom prst="rect">
            <a:avLst/>
          </a:prstGeom>
        </p:spPr>
      </p:pic>
      <p:sp>
        <p:nvSpPr>
          <p:cNvPr id="238" name="Text 26">
            <a:extLst>
              <a:ext uri="{FF2B5EF4-FFF2-40B4-BE49-F238E27FC236}">
                <a16:creationId xmlns:a16="http://schemas.microsoft.com/office/drawing/2014/main" id="{A9B13CCA-BB0C-F969-BC50-E9F64162FEF0}"/>
              </a:ext>
            </a:extLst>
          </p:cNvPr>
          <p:cNvSpPr/>
          <p:nvPr/>
        </p:nvSpPr>
        <p:spPr>
          <a:xfrm>
            <a:off x="6803136" y="7228332"/>
            <a:ext cx="4704588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Clear, Traceable Data Flow</a:t>
            </a:r>
            <a:endParaRPr lang="en-US" sz="1950" dirty="0"/>
          </a:p>
        </p:txBody>
      </p:sp>
      <p:sp>
        <p:nvSpPr>
          <p:cNvPr id="240" name="Text 27">
            <a:extLst>
              <a:ext uri="{FF2B5EF4-FFF2-40B4-BE49-F238E27FC236}">
                <a16:creationId xmlns:a16="http://schemas.microsoft.com/office/drawing/2014/main" id="{08D9A969-D7DC-1100-348E-5192A8021583}"/>
              </a:ext>
            </a:extLst>
          </p:cNvPr>
          <p:cNvSpPr/>
          <p:nvPr/>
        </p:nvSpPr>
        <p:spPr>
          <a:xfrm>
            <a:off x="6803136" y="8092440"/>
            <a:ext cx="4704588" cy="11932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5000"/>
              </a:lnSpc>
            </a:pPr>
            <a:r>
              <a:rPr lang="en-US" sz="1530" dirty="0">
                <a:solidFill>
                  <a:srgbClr val="DCE6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sequence of steps makes it straightforward to see how a request moves through the system, supporting development and future auditing.</a:t>
            </a:r>
            <a:endParaRPr lang="en-US" sz="1530" dirty="0"/>
          </a:p>
        </p:txBody>
      </p:sp>
      <p:sp>
        <p:nvSpPr>
          <p:cNvPr id="242" name="Shape 29">
            <a:extLst>
              <a:ext uri="{FF2B5EF4-FFF2-40B4-BE49-F238E27FC236}">
                <a16:creationId xmlns:a16="http://schemas.microsoft.com/office/drawing/2014/main" id="{4F3546B2-BE89-BE20-CB3C-EF8FEBB16BE0}"/>
              </a:ext>
            </a:extLst>
          </p:cNvPr>
          <p:cNvSpPr/>
          <p:nvPr/>
        </p:nvSpPr>
        <p:spPr>
          <a:xfrm>
            <a:off x="12495276" y="6295644"/>
            <a:ext cx="768096" cy="768096"/>
          </a:xfrm>
          <a:prstGeom prst="ellipse">
            <a:avLst/>
          </a:prstGeom>
          <a:solidFill>
            <a:srgbClr val="3D74C9"/>
          </a:solidFill>
          <a:ln/>
          <a:effectLst>
            <a:outerShdw blurRad="76200" dist="254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 sz="2100"/>
          </a:p>
        </p:txBody>
      </p:sp>
      <p:pic>
        <p:nvPicPr>
          <p:cNvPr id="244" name="Image 5" descr="/home/claude/icons/trendingup_white.png">
            <a:extLst>
              <a:ext uri="{FF2B5EF4-FFF2-40B4-BE49-F238E27FC236}">
                <a16:creationId xmlns:a16="http://schemas.microsoft.com/office/drawing/2014/main" id="{623A4447-AEC3-EB16-872F-4B9895AA8CC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702662" y="6503030"/>
            <a:ext cx="353324" cy="353324"/>
          </a:xfrm>
          <a:prstGeom prst="rect">
            <a:avLst/>
          </a:prstGeom>
        </p:spPr>
      </p:pic>
      <p:sp>
        <p:nvSpPr>
          <p:cNvPr id="246" name="Text 30">
            <a:extLst>
              <a:ext uri="{FF2B5EF4-FFF2-40B4-BE49-F238E27FC236}">
                <a16:creationId xmlns:a16="http://schemas.microsoft.com/office/drawing/2014/main" id="{FE306581-5C4B-1B13-5987-1998E2728B27}"/>
              </a:ext>
            </a:extLst>
          </p:cNvPr>
          <p:cNvSpPr/>
          <p:nvPr/>
        </p:nvSpPr>
        <p:spPr>
          <a:xfrm>
            <a:off x="12495276" y="7228332"/>
            <a:ext cx="4704588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Realistic Foundation for Growth</a:t>
            </a:r>
            <a:endParaRPr lang="en-US" sz="1950" dirty="0"/>
          </a:p>
        </p:txBody>
      </p:sp>
      <p:sp>
        <p:nvSpPr>
          <p:cNvPr id="248" name="Text 31">
            <a:extLst>
              <a:ext uri="{FF2B5EF4-FFF2-40B4-BE49-F238E27FC236}">
                <a16:creationId xmlns:a16="http://schemas.microsoft.com/office/drawing/2014/main" id="{07629EAA-551A-B30D-444A-FBA0B4FA2AEC}"/>
              </a:ext>
            </a:extLst>
          </p:cNvPr>
          <p:cNvSpPr/>
          <p:nvPr/>
        </p:nvSpPr>
        <p:spPr>
          <a:xfrm>
            <a:off x="12495276" y="8092440"/>
            <a:ext cx="4704588" cy="11932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5000"/>
              </a:lnSpc>
            </a:pPr>
            <a:r>
              <a:rPr lang="en-US" sz="1530" dirty="0">
                <a:solidFill>
                  <a:srgbClr val="DCE6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Cleanly separated responsibilities let the architecture extend later — e.g., CSV to database, single- to multi-user — without a full redesign.</a:t>
            </a:r>
            <a:endParaRPr lang="en-US" sz="1530" dirty="0"/>
          </a:p>
        </p:txBody>
      </p:sp>
      <p:sp>
        <p:nvSpPr>
          <p:cNvPr id="250" name="TextBox 249">
            <a:extLst>
              <a:ext uri="{FF2B5EF4-FFF2-40B4-BE49-F238E27FC236}">
                <a16:creationId xmlns:a16="http://schemas.microsoft.com/office/drawing/2014/main" id="{D51CFC88-2353-00C0-D9D8-1076AA545566}"/>
              </a:ext>
            </a:extLst>
          </p:cNvPr>
          <p:cNvSpPr txBox="1"/>
          <p:nvPr/>
        </p:nvSpPr>
        <p:spPr>
          <a:xfrm>
            <a:off x="1179576" y="944392"/>
            <a:ext cx="9144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Architecture?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29274978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>
          <a:extLst>
            <a:ext uri="{FF2B5EF4-FFF2-40B4-BE49-F238E27FC236}">
              <a16:creationId xmlns:a16="http://schemas.microsoft.com/office/drawing/2014/main" id="{7A2DC910-47EE-4794-8488-DF050BEC47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oogle Shape;100;p13">
            <a:extLst>
              <a:ext uri="{FF2B5EF4-FFF2-40B4-BE49-F238E27FC236}">
                <a16:creationId xmlns:a16="http://schemas.microsoft.com/office/drawing/2014/main" id="{3AB36957-48E2-DCCF-CC90-F4AA26C46ED9}"/>
              </a:ext>
            </a:extLst>
          </p:cNvPr>
          <p:cNvGrpSpPr/>
          <p:nvPr/>
        </p:nvGrpSpPr>
        <p:grpSpPr>
          <a:xfrm>
            <a:off x="364964" y="550694"/>
            <a:ext cx="16173852" cy="9301966"/>
            <a:chOff x="0" y="-47625"/>
            <a:chExt cx="4259780" cy="2215092"/>
          </a:xfrm>
        </p:grpSpPr>
        <p:sp>
          <p:nvSpPr>
            <p:cNvPr id="3" name="Google Shape;101;p13">
              <a:extLst>
                <a:ext uri="{FF2B5EF4-FFF2-40B4-BE49-F238E27FC236}">
                  <a16:creationId xmlns:a16="http://schemas.microsoft.com/office/drawing/2014/main" id="{A02E5520-EFF9-B395-AFB4-7C7755D845F4}"/>
                </a:ext>
              </a:extLst>
            </p:cNvPr>
            <p:cNvSpPr/>
            <p:nvPr/>
          </p:nvSpPr>
          <p:spPr>
            <a:xfrm>
              <a:off x="0" y="0"/>
              <a:ext cx="4259780" cy="2167467"/>
            </a:xfrm>
            <a:custGeom>
              <a:avLst/>
              <a:gdLst/>
              <a:ahLst/>
              <a:cxnLst/>
              <a:rect l="l" t="t" r="r" b="b"/>
              <a:pathLst>
                <a:path w="4259780" h="2167467" extrusionOk="0">
                  <a:moveTo>
                    <a:pt x="0" y="0"/>
                  </a:moveTo>
                  <a:lnTo>
                    <a:pt x="4259780" y="0"/>
                  </a:lnTo>
                  <a:lnTo>
                    <a:pt x="4259780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 cmpd="sng">
              <a:solidFill>
                <a:srgbClr val="71CBEF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Google Shape;102;p13">
              <a:extLst>
                <a:ext uri="{FF2B5EF4-FFF2-40B4-BE49-F238E27FC236}">
                  <a16:creationId xmlns:a16="http://schemas.microsoft.com/office/drawing/2014/main" id="{5D9E027C-B491-6E28-2D67-C0B861AC1229}"/>
                </a:ext>
              </a:extLst>
            </p:cNvPr>
            <p:cNvSpPr txBox="1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9" name="Google Shape;159;p17">
            <a:extLst>
              <a:ext uri="{FF2B5EF4-FFF2-40B4-BE49-F238E27FC236}">
                <a16:creationId xmlns:a16="http://schemas.microsoft.com/office/drawing/2014/main" id="{57E9653C-91CC-D4BC-98B5-537220DDC806}"/>
              </a:ext>
            </a:extLst>
          </p:cNvPr>
          <p:cNvSpPr txBox="1"/>
          <p:nvPr/>
        </p:nvSpPr>
        <p:spPr>
          <a:xfrm>
            <a:off x="364964" y="3739522"/>
            <a:ext cx="10287001" cy="3139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0" dirty="0">
                <a:solidFill>
                  <a:srgbClr val="71CBEF"/>
                </a:solidFill>
                <a:latin typeface="Archivo Black"/>
                <a:ea typeface="Archivo Black"/>
                <a:cs typeface="Archivo Black"/>
                <a:sym typeface="Archivo Black"/>
              </a:rPr>
              <a:t>VALIDATION</a:t>
            </a:r>
          </a:p>
          <a:p>
            <a:pPr marL="0" marR="0" lvl="0" indent="0" algn="just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8500" dirty="0">
              <a:solidFill>
                <a:srgbClr val="71CBEF"/>
              </a:solidFill>
              <a:latin typeface="Archivo Black"/>
              <a:ea typeface="Archivo Black"/>
              <a:cs typeface="Archivo Black"/>
              <a:sym typeface="Archivo Black"/>
            </a:endParaRPr>
          </a:p>
        </p:txBody>
      </p:sp>
      <p:sp>
        <p:nvSpPr>
          <p:cNvPr id="162" name="Google Shape;162;p17">
            <a:extLst>
              <a:ext uri="{FF2B5EF4-FFF2-40B4-BE49-F238E27FC236}">
                <a16:creationId xmlns:a16="http://schemas.microsoft.com/office/drawing/2014/main" id="{5B7348AD-2856-659A-7CEE-1416994E17B0}"/>
              </a:ext>
            </a:extLst>
          </p:cNvPr>
          <p:cNvSpPr txBox="1"/>
          <p:nvPr/>
        </p:nvSpPr>
        <p:spPr>
          <a:xfrm>
            <a:off x="-4803673" y="-257754"/>
            <a:ext cx="3086100" cy="32669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ctr" rtl="0">
              <a:lnSpc>
                <a:spcPct val="186611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7">
            <a:extLst>
              <a:ext uri="{FF2B5EF4-FFF2-40B4-BE49-F238E27FC236}">
                <a16:creationId xmlns:a16="http://schemas.microsoft.com/office/drawing/2014/main" id="{651DD84C-6D97-573E-21E4-ED3E31425D3C}"/>
              </a:ext>
            </a:extLst>
          </p:cNvPr>
          <p:cNvSpPr/>
          <p:nvPr/>
        </p:nvSpPr>
        <p:spPr>
          <a:xfrm>
            <a:off x="10089422" y="0"/>
            <a:ext cx="8198578" cy="10287000"/>
          </a:xfrm>
          <a:custGeom>
            <a:avLst/>
            <a:gdLst/>
            <a:ahLst/>
            <a:cxnLst/>
            <a:rect l="l" t="t" r="r" b="b"/>
            <a:pathLst>
              <a:path w="8198578" h="10287000" extrusionOk="0">
                <a:moveTo>
                  <a:pt x="0" y="0"/>
                </a:moveTo>
                <a:lnTo>
                  <a:pt x="8198578" y="0"/>
                </a:lnTo>
                <a:lnTo>
                  <a:pt x="8198578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17638" r="-7831"/>
            </a:stretch>
          </a:blipFill>
          <a:ln>
            <a:noFill/>
          </a:ln>
        </p:spPr>
        <p:txBody>
          <a:bodyPr/>
          <a:lstStyle/>
          <a:p>
            <a:endParaRPr lang="en-IN"/>
          </a:p>
        </p:txBody>
      </p:sp>
      <p:grpSp>
        <p:nvGrpSpPr>
          <p:cNvPr id="165" name="Google Shape;165;p17">
            <a:extLst>
              <a:ext uri="{FF2B5EF4-FFF2-40B4-BE49-F238E27FC236}">
                <a16:creationId xmlns:a16="http://schemas.microsoft.com/office/drawing/2014/main" id="{CC6B335C-6DB8-98F6-9765-C3624B349392}"/>
              </a:ext>
            </a:extLst>
          </p:cNvPr>
          <p:cNvGrpSpPr/>
          <p:nvPr/>
        </p:nvGrpSpPr>
        <p:grpSpPr>
          <a:xfrm>
            <a:off x="1462245" y="-180826"/>
            <a:ext cx="3086101" cy="3692058"/>
            <a:chOff x="0" y="-47625"/>
            <a:chExt cx="812800" cy="972394"/>
          </a:xfrm>
        </p:grpSpPr>
        <p:sp>
          <p:nvSpPr>
            <p:cNvPr id="166" name="Google Shape;166;p17">
              <a:extLst>
                <a:ext uri="{FF2B5EF4-FFF2-40B4-BE49-F238E27FC236}">
                  <a16:creationId xmlns:a16="http://schemas.microsoft.com/office/drawing/2014/main" id="{BB3A9320-164B-E13C-2E00-068AE7467C0B}"/>
                </a:ext>
              </a:extLst>
            </p:cNvPr>
            <p:cNvSpPr/>
            <p:nvPr/>
          </p:nvSpPr>
          <p:spPr>
            <a:xfrm>
              <a:off x="0" y="0"/>
              <a:ext cx="296125" cy="924769"/>
            </a:xfrm>
            <a:custGeom>
              <a:avLst/>
              <a:gdLst/>
              <a:ahLst/>
              <a:cxnLst/>
              <a:rect l="l" t="t" r="r" b="b"/>
              <a:pathLst>
                <a:path w="296125" h="924769" extrusionOk="0">
                  <a:moveTo>
                    <a:pt x="0" y="0"/>
                  </a:moveTo>
                  <a:lnTo>
                    <a:pt x="296125" y="0"/>
                  </a:lnTo>
                  <a:lnTo>
                    <a:pt x="296125" y="924769"/>
                  </a:lnTo>
                  <a:lnTo>
                    <a:pt x="0" y="924769"/>
                  </a:lnTo>
                  <a:close/>
                </a:path>
              </a:pathLst>
            </a:custGeom>
            <a:solidFill>
              <a:srgbClr val="2D5B8F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67" name="Google Shape;167;p17">
              <a:extLst>
                <a:ext uri="{FF2B5EF4-FFF2-40B4-BE49-F238E27FC236}">
                  <a16:creationId xmlns:a16="http://schemas.microsoft.com/office/drawing/2014/main" id="{E3D3107D-AE3C-C9D7-4459-18B2F9199CF1}"/>
                </a:ext>
              </a:extLst>
            </p:cNvPr>
            <p:cNvSpPr txBox="1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68" name="Google Shape;168;p17">
            <a:extLst>
              <a:ext uri="{FF2B5EF4-FFF2-40B4-BE49-F238E27FC236}">
                <a16:creationId xmlns:a16="http://schemas.microsoft.com/office/drawing/2014/main" id="{9728A8B2-EB14-ECD6-81AD-CA9A3A02E766}"/>
              </a:ext>
            </a:extLst>
          </p:cNvPr>
          <p:cNvSpPr txBox="1"/>
          <p:nvPr/>
        </p:nvSpPr>
        <p:spPr>
          <a:xfrm>
            <a:off x="1604058" y="2134590"/>
            <a:ext cx="1445554" cy="16619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0" dirty="0">
                <a:solidFill>
                  <a:srgbClr val="0F1A38"/>
                </a:solidFill>
                <a:latin typeface="Archivo Black"/>
                <a:sym typeface="Archivo Black"/>
              </a:rPr>
              <a:t>3</a:t>
            </a:r>
            <a:endParaRPr dirty="0"/>
          </a:p>
        </p:txBody>
      </p:sp>
      <p:pic>
        <p:nvPicPr>
          <p:cNvPr id="169" name="Google Shape;169;p17">
            <a:extLst>
              <a:ext uri="{FF2B5EF4-FFF2-40B4-BE49-F238E27FC236}">
                <a16:creationId xmlns:a16="http://schemas.microsoft.com/office/drawing/2014/main" id="{9BF6249D-DE6B-D3F1-FB17-A06DCE566E72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218126" y="-180826"/>
            <a:ext cx="10287001" cy="1028700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6037585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5A32942-9405-1C2C-5E30-A41CA5159C5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739" t="20703" r="2485" b="13215"/>
          <a:stretch>
            <a:fillRect/>
          </a:stretch>
        </p:blipFill>
        <p:spPr>
          <a:xfrm>
            <a:off x="-1" y="0"/>
            <a:ext cx="18288001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64592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Minimalist Thank You Text Animation Stock Footage Video (100% Royalty-free)  3976017893 | Shutterstock">
            <a:extLst>
              <a:ext uri="{FF2B5EF4-FFF2-40B4-BE49-F238E27FC236}">
                <a16:creationId xmlns:a16="http://schemas.microsoft.com/office/drawing/2014/main" id="{F08B9014-DF24-C97B-29D6-4DF284329B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2315881"/>
      </p:ext>
    </p:extLst>
  </p:cSld>
  <p:clrMapOvr>
    <a:masterClrMapping/>
  </p:clrMapOvr>
</p:sld>
</file>

<file path=ppt/theme/theme1.xml><?xml version="1.0" encoding="utf-8"?>
<a:theme xmlns:a="http://schemas.openxmlformats.org/drawingml/2006/main" name="Cyber-Futuristic AI Technology Thesis Defense">
  <a:themeElements>
    <a:clrScheme name="Office">
      <a:dk1>
        <a:srgbClr val="0F1A38"/>
      </a:dk1>
      <a:lt1>
        <a:srgbClr val="FFFFFF"/>
      </a:lt1>
      <a:dk2>
        <a:srgbClr val="2D5B8F"/>
      </a:dk2>
      <a:lt2>
        <a:srgbClr val="71CBEF"/>
      </a:lt2>
      <a:accent1>
        <a:srgbClr val="0F1A38"/>
      </a:accent1>
      <a:accent2>
        <a:srgbClr val="2D5B8F"/>
      </a:accent2>
      <a:accent3>
        <a:srgbClr val="71CBEF"/>
      </a:accent3>
      <a:accent4>
        <a:srgbClr val="888888"/>
      </a:accent4>
      <a:accent5>
        <a:srgbClr val="FFFFFF"/>
      </a:accent5>
      <a:accent6>
        <a:srgbClr val="2D5B8F"/>
      </a:accent6>
      <a:hlink>
        <a:srgbClr val="FFFF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260</TotalTime>
  <Words>921</Words>
  <Application>Microsoft Office PowerPoint</Application>
  <PresentationFormat>Custom</PresentationFormat>
  <Paragraphs>113</Paragraphs>
  <Slides>15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15</vt:i4>
      </vt:variant>
    </vt:vector>
  </HeadingPairs>
  <TitlesOfParts>
    <vt:vector size="24" baseType="lpstr">
      <vt:lpstr>Calibri</vt:lpstr>
      <vt:lpstr>Aptos</vt:lpstr>
      <vt:lpstr>Archivo Black</vt:lpstr>
      <vt:lpstr>Noto Sans</vt:lpstr>
      <vt:lpstr>Cambria</vt:lpstr>
      <vt:lpstr>Arial</vt:lpstr>
      <vt:lpstr>Wingdings</vt:lpstr>
      <vt:lpstr>Cyber-Futuristic AI Technology Thesis Defense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Pranjal Ambwani</cp:lastModifiedBy>
  <cp:revision>2</cp:revision>
  <dcterms:modified xsi:type="dcterms:W3CDTF">2026-09-08T08:40:24Z</dcterms:modified>
</cp:coreProperties>
</file>